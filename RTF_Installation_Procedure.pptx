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7" r:id="rId4"/>
    <p:sldId id="259" r:id="rId5"/>
    <p:sldId id="260" r:id="rId6"/>
    <p:sldId id="261" r:id="rId7"/>
    <p:sldId id="262" r:id="rId8"/>
    <p:sldId id="263" r:id="rId9"/>
    <p:sldId id="264" r:id="rId10"/>
    <p:sldId id="267" r:id="rId11"/>
    <p:sldId id="265" r:id="rId12"/>
    <p:sldId id="274" r:id="rId13"/>
    <p:sldId id="275" r:id="rId14"/>
    <p:sldId id="276" r:id="rId15"/>
    <p:sldId id="277" r:id="rId16"/>
    <p:sldId id="266" r:id="rId17"/>
    <p:sldId id="268" r:id="rId18"/>
    <p:sldId id="269" r:id="rId19"/>
    <p:sldId id="270" r:id="rId20"/>
    <p:sldId id="272" r:id="rId21"/>
    <p:sldId id="278" r:id="rId22"/>
    <p:sldId id="279"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00" autoAdjust="0"/>
    <p:restoredTop sz="94660"/>
  </p:normalViewPr>
  <p:slideViewPr>
    <p:cSldViewPr snapToGrid="0">
      <p:cViewPr>
        <p:scale>
          <a:sx n="79" d="100"/>
          <a:sy n="79" d="100"/>
        </p:scale>
        <p:origin x="171" y="6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D45DB8-C1F0-6A53-679D-33ED7725340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a:extLst>
              <a:ext uri="{FF2B5EF4-FFF2-40B4-BE49-F238E27FC236}">
                <a16:creationId xmlns:a16="http://schemas.microsoft.com/office/drawing/2014/main" id="{C37AD2C6-E072-34B0-79D5-FA581DD1C8A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sp>
        <p:nvSpPr>
          <p:cNvPr id="4" name="Date Placeholder 3">
            <a:extLst>
              <a:ext uri="{FF2B5EF4-FFF2-40B4-BE49-F238E27FC236}">
                <a16:creationId xmlns:a16="http://schemas.microsoft.com/office/drawing/2014/main" id="{98461B67-EE9C-6CDA-E19B-1769AFB4CA08}"/>
              </a:ext>
            </a:extLst>
          </p:cNvPr>
          <p:cNvSpPr>
            <a:spLocks noGrp="1"/>
          </p:cNvSpPr>
          <p:nvPr>
            <p:ph type="dt" sz="half" idx="10"/>
          </p:nvPr>
        </p:nvSpPr>
        <p:spPr/>
        <p:txBody>
          <a:bodyPr/>
          <a:lstStyle/>
          <a:p>
            <a:fld id="{309B8479-2F90-44B6-AC3E-CEEABBEC5FC7}" type="datetimeFigureOut">
              <a:rPr lang="en-SG" smtClean="0"/>
              <a:t>5/11/2022</a:t>
            </a:fld>
            <a:endParaRPr lang="en-SG"/>
          </a:p>
        </p:txBody>
      </p:sp>
      <p:sp>
        <p:nvSpPr>
          <p:cNvPr id="5" name="Footer Placeholder 4">
            <a:extLst>
              <a:ext uri="{FF2B5EF4-FFF2-40B4-BE49-F238E27FC236}">
                <a16:creationId xmlns:a16="http://schemas.microsoft.com/office/drawing/2014/main" id="{7818A8C2-0459-C8AF-339F-812C3DC3B32B}"/>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09433CD7-A5E7-40B5-4CBD-0F1615E8093C}"/>
              </a:ext>
            </a:extLst>
          </p:cNvPr>
          <p:cNvSpPr>
            <a:spLocks noGrp="1"/>
          </p:cNvSpPr>
          <p:nvPr>
            <p:ph type="sldNum" sz="quarter" idx="12"/>
          </p:nvPr>
        </p:nvSpPr>
        <p:spPr/>
        <p:txBody>
          <a:bodyPr/>
          <a:lstStyle/>
          <a:p>
            <a:fld id="{37995446-E595-47E8-8D18-DDB08AF12F81}" type="slidenum">
              <a:rPr lang="en-SG" smtClean="0"/>
              <a:t>‹#›</a:t>
            </a:fld>
            <a:endParaRPr lang="en-SG"/>
          </a:p>
        </p:txBody>
      </p:sp>
    </p:spTree>
    <p:extLst>
      <p:ext uri="{BB962C8B-B14F-4D97-AF65-F5344CB8AC3E}">
        <p14:creationId xmlns:p14="http://schemas.microsoft.com/office/powerpoint/2010/main" val="25281005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5D683-E950-2C98-8C8B-8CEAFA6EBDFF}"/>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7B869A4D-575D-E9FD-417E-690996A9155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C188F74C-9026-5BEC-AC83-E216DCC1A59B}"/>
              </a:ext>
            </a:extLst>
          </p:cNvPr>
          <p:cNvSpPr>
            <a:spLocks noGrp="1"/>
          </p:cNvSpPr>
          <p:nvPr>
            <p:ph type="dt" sz="half" idx="10"/>
          </p:nvPr>
        </p:nvSpPr>
        <p:spPr/>
        <p:txBody>
          <a:bodyPr/>
          <a:lstStyle/>
          <a:p>
            <a:fld id="{309B8479-2F90-44B6-AC3E-CEEABBEC5FC7}" type="datetimeFigureOut">
              <a:rPr lang="en-SG" smtClean="0"/>
              <a:t>5/11/2022</a:t>
            </a:fld>
            <a:endParaRPr lang="en-SG"/>
          </a:p>
        </p:txBody>
      </p:sp>
      <p:sp>
        <p:nvSpPr>
          <p:cNvPr id="5" name="Footer Placeholder 4">
            <a:extLst>
              <a:ext uri="{FF2B5EF4-FFF2-40B4-BE49-F238E27FC236}">
                <a16:creationId xmlns:a16="http://schemas.microsoft.com/office/drawing/2014/main" id="{B5F7657D-AE05-6197-95D2-26358F0A0843}"/>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C035A2E7-EAF7-C3B1-801E-9B7B79FA8841}"/>
              </a:ext>
            </a:extLst>
          </p:cNvPr>
          <p:cNvSpPr>
            <a:spLocks noGrp="1"/>
          </p:cNvSpPr>
          <p:nvPr>
            <p:ph type="sldNum" sz="quarter" idx="12"/>
          </p:nvPr>
        </p:nvSpPr>
        <p:spPr/>
        <p:txBody>
          <a:bodyPr/>
          <a:lstStyle/>
          <a:p>
            <a:fld id="{37995446-E595-47E8-8D18-DDB08AF12F81}" type="slidenum">
              <a:rPr lang="en-SG" smtClean="0"/>
              <a:t>‹#›</a:t>
            </a:fld>
            <a:endParaRPr lang="en-SG"/>
          </a:p>
        </p:txBody>
      </p:sp>
    </p:spTree>
    <p:extLst>
      <p:ext uri="{BB962C8B-B14F-4D97-AF65-F5344CB8AC3E}">
        <p14:creationId xmlns:p14="http://schemas.microsoft.com/office/powerpoint/2010/main" val="298044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46235-C0DD-7852-191C-E383E833AE3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a:extLst>
              <a:ext uri="{FF2B5EF4-FFF2-40B4-BE49-F238E27FC236}">
                <a16:creationId xmlns:a16="http://schemas.microsoft.com/office/drawing/2014/main" id="{0372D6CF-6A53-4B3F-11D9-B5171728B6D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58E7B61-DE08-9324-4178-8C112762D744}"/>
              </a:ext>
            </a:extLst>
          </p:cNvPr>
          <p:cNvSpPr>
            <a:spLocks noGrp="1"/>
          </p:cNvSpPr>
          <p:nvPr>
            <p:ph type="dt" sz="half" idx="10"/>
          </p:nvPr>
        </p:nvSpPr>
        <p:spPr/>
        <p:txBody>
          <a:bodyPr/>
          <a:lstStyle/>
          <a:p>
            <a:fld id="{309B8479-2F90-44B6-AC3E-CEEABBEC5FC7}" type="datetimeFigureOut">
              <a:rPr lang="en-SG" smtClean="0"/>
              <a:t>5/11/2022</a:t>
            </a:fld>
            <a:endParaRPr lang="en-SG"/>
          </a:p>
        </p:txBody>
      </p:sp>
      <p:sp>
        <p:nvSpPr>
          <p:cNvPr id="5" name="Footer Placeholder 4">
            <a:extLst>
              <a:ext uri="{FF2B5EF4-FFF2-40B4-BE49-F238E27FC236}">
                <a16:creationId xmlns:a16="http://schemas.microsoft.com/office/drawing/2014/main" id="{22A6292E-9131-70C6-BD61-6FEDA64CC545}"/>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08DD30F3-DCB4-3999-1D21-8AE35EC45568}"/>
              </a:ext>
            </a:extLst>
          </p:cNvPr>
          <p:cNvSpPr>
            <a:spLocks noGrp="1"/>
          </p:cNvSpPr>
          <p:nvPr>
            <p:ph type="sldNum" sz="quarter" idx="12"/>
          </p:nvPr>
        </p:nvSpPr>
        <p:spPr/>
        <p:txBody>
          <a:bodyPr/>
          <a:lstStyle/>
          <a:p>
            <a:fld id="{37995446-E595-47E8-8D18-DDB08AF12F81}" type="slidenum">
              <a:rPr lang="en-SG" smtClean="0"/>
              <a:t>‹#›</a:t>
            </a:fld>
            <a:endParaRPr lang="en-SG"/>
          </a:p>
        </p:txBody>
      </p:sp>
    </p:spTree>
    <p:extLst>
      <p:ext uri="{BB962C8B-B14F-4D97-AF65-F5344CB8AC3E}">
        <p14:creationId xmlns:p14="http://schemas.microsoft.com/office/powerpoint/2010/main" val="28706951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D8A8F2-6258-3B68-B55E-B94B1372B450}"/>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EE2B0F88-5A34-8D71-405D-BAD11A3F7B6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a:extLst>
              <a:ext uri="{FF2B5EF4-FFF2-40B4-BE49-F238E27FC236}">
                <a16:creationId xmlns:a16="http://schemas.microsoft.com/office/drawing/2014/main" id="{4A38FB75-8BB5-A565-ABF8-7120C65E85D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a:extLst>
              <a:ext uri="{FF2B5EF4-FFF2-40B4-BE49-F238E27FC236}">
                <a16:creationId xmlns:a16="http://schemas.microsoft.com/office/drawing/2014/main" id="{36F6FA48-0050-5014-B110-F49D1B8E2FCA}"/>
              </a:ext>
            </a:extLst>
          </p:cNvPr>
          <p:cNvSpPr>
            <a:spLocks noGrp="1"/>
          </p:cNvSpPr>
          <p:nvPr>
            <p:ph type="dt" sz="half" idx="10"/>
          </p:nvPr>
        </p:nvSpPr>
        <p:spPr/>
        <p:txBody>
          <a:bodyPr/>
          <a:lstStyle/>
          <a:p>
            <a:fld id="{309B8479-2F90-44B6-AC3E-CEEABBEC5FC7}" type="datetimeFigureOut">
              <a:rPr lang="en-SG" smtClean="0"/>
              <a:t>5/11/2022</a:t>
            </a:fld>
            <a:endParaRPr lang="en-SG"/>
          </a:p>
        </p:txBody>
      </p:sp>
      <p:sp>
        <p:nvSpPr>
          <p:cNvPr id="6" name="Footer Placeholder 5">
            <a:extLst>
              <a:ext uri="{FF2B5EF4-FFF2-40B4-BE49-F238E27FC236}">
                <a16:creationId xmlns:a16="http://schemas.microsoft.com/office/drawing/2014/main" id="{75D7478D-EA2E-2E3C-B036-5780E58742FF}"/>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18AC4933-991E-27D9-17CD-9D3930AB3116}"/>
              </a:ext>
            </a:extLst>
          </p:cNvPr>
          <p:cNvSpPr>
            <a:spLocks noGrp="1"/>
          </p:cNvSpPr>
          <p:nvPr>
            <p:ph type="sldNum" sz="quarter" idx="12"/>
          </p:nvPr>
        </p:nvSpPr>
        <p:spPr/>
        <p:txBody>
          <a:bodyPr/>
          <a:lstStyle/>
          <a:p>
            <a:fld id="{37995446-E595-47E8-8D18-DDB08AF12F81}" type="slidenum">
              <a:rPr lang="en-SG" smtClean="0"/>
              <a:t>‹#›</a:t>
            </a:fld>
            <a:endParaRPr lang="en-SG"/>
          </a:p>
        </p:txBody>
      </p:sp>
    </p:spTree>
    <p:extLst>
      <p:ext uri="{BB962C8B-B14F-4D97-AF65-F5344CB8AC3E}">
        <p14:creationId xmlns:p14="http://schemas.microsoft.com/office/powerpoint/2010/main" val="996546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A4C98-C168-0B26-7EA7-24CA465A6976}"/>
              </a:ext>
            </a:extLst>
          </p:cNvPr>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a:extLst>
              <a:ext uri="{FF2B5EF4-FFF2-40B4-BE49-F238E27FC236}">
                <a16:creationId xmlns:a16="http://schemas.microsoft.com/office/drawing/2014/main" id="{3161B180-6EC8-0DB4-823F-31CA8ACAAB4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EA80B66-2E28-4635-C909-D9B5A2165CB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a:extLst>
              <a:ext uri="{FF2B5EF4-FFF2-40B4-BE49-F238E27FC236}">
                <a16:creationId xmlns:a16="http://schemas.microsoft.com/office/drawing/2014/main" id="{7E789401-EF94-8BD3-7CAB-CBFC3AC450D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BD6B998-D3BB-0A24-86C2-D2103699188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a:extLst>
              <a:ext uri="{FF2B5EF4-FFF2-40B4-BE49-F238E27FC236}">
                <a16:creationId xmlns:a16="http://schemas.microsoft.com/office/drawing/2014/main" id="{06007C73-0473-83FE-FA80-AC18D36E42F0}"/>
              </a:ext>
            </a:extLst>
          </p:cNvPr>
          <p:cNvSpPr>
            <a:spLocks noGrp="1"/>
          </p:cNvSpPr>
          <p:nvPr>
            <p:ph type="dt" sz="half" idx="10"/>
          </p:nvPr>
        </p:nvSpPr>
        <p:spPr/>
        <p:txBody>
          <a:bodyPr/>
          <a:lstStyle/>
          <a:p>
            <a:fld id="{309B8479-2F90-44B6-AC3E-CEEABBEC5FC7}" type="datetimeFigureOut">
              <a:rPr lang="en-SG" smtClean="0"/>
              <a:t>5/11/2022</a:t>
            </a:fld>
            <a:endParaRPr lang="en-SG"/>
          </a:p>
        </p:txBody>
      </p:sp>
      <p:sp>
        <p:nvSpPr>
          <p:cNvPr id="8" name="Footer Placeholder 7">
            <a:extLst>
              <a:ext uri="{FF2B5EF4-FFF2-40B4-BE49-F238E27FC236}">
                <a16:creationId xmlns:a16="http://schemas.microsoft.com/office/drawing/2014/main" id="{8B072A01-F4D3-A724-1DC2-CECD19F189EC}"/>
              </a:ext>
            </a:extLst>
          </p:cNvPr>
          <p:cNvSpPr>
            <a:spLocks noGrp="1"/>
          </p:cNvSpPr>
          <p:nvPr>
            <p:ph type="ftr" sz="quarter" idx="11"/>
          </p:nvPr>
        </p:nvSpPr>
        <p:spPr/>
        <p:txBody>
          <a:bodyPr/>
          <a:lstStyle/>
          <a:p>
            <a:endParaRPr lang="en-SG"/>
          </a:p>
        </p:txBody>
      </p:sp>
      <p:sp>
        <p:nvSpPr>
          <p:cNvPr id="9" name="Slide Number Placeholder 8">
            <a:extLst>
              <a:ext uri="{FF2B5EF4-FFF2-40B4-BE49-F238E27FC236}">
                <a16:creationId xmlns:a16="http://schemas.microsoft.com/office/drawing/2014/main" id="{F5C7D55C-3442-C7D8-9701-1E3DF4060C3C}"/>
              </a:ext>
            </a:extLst>
          </p:cNvPr>
          <p:cNvSpPr>
            <a:spLocks noGrp="1"/>
          </p:cNvSpPr>
          <p:nvPr>
            <p:ph type="sldNum" sz="quarter" idx="12"/>
          </p:nvPr>
        </p:nvSpPr>
        <p:spPr/>
        <p:txBody>
          <a:bodyPr/>
          <a:lstStyle/>
          <a:p>
            <a:fld id="{37995446-E595-47E8-8D18-DDB08AF12F81}" type="slidenum">
              <a:rPr lang="en-SG" smtClean="0"/>
              <a:t>‹#›</a:t>
            </a:fld>
            <a:endParaRPr lang="en-SG"/>
          </a:p>
        </p:txBody>
      </p:sp>
    </p:spTree>
    <p:extLst>
      <p:ext uri="{BB962C8B-B14F-4D97-AF65-F5344CB8AC3E}">
        <p14:creationId xmlns:p14="http://schemas.microsoft.com/office/powerpoint/2010/main" val="3708438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3CCD8-2289-FCEE-C0B0-1A537E10065E}"/>
              </a:ext>
            </a:extLst>
          </p:cNvPr>
          <p:cNvSpPr>
            <a:spLocks noGrp="1"/>
          </p:cNvSpPr>
          <p:nvPr>
            <p:ph type="title"/>
          </p:nvPr>
        </p:nvSpPr>
        <p:spPr/>
        <p:txBody>
          <a:bodyPr/>
          <a:lstStyle/>
          <a:p>
            <a:r>
              <a:rPr lang="en-US"/>
              <a:t>Click to edit Master title style</a:t>
            </a:r>
            <a:endParaRPr lang="en-SG"/>
          </a:p>
        </p:txBody>
      </p:sp>
      <p:sp>
        <p:nvSpPr>
          <p:cNvPr id="3" name="Date Placeholder 2">
            <a:extLst>
              <a:ext uri="{FF2B5EF4-FFF2-40B4-BE49-F238E27FC236}">
                <a16:creationId xmlns:a16="http://schemas.microsoft.com/office/drawing/2014/main" id="{412FE441-9433-823D-581C-9561E8613D31}"/>
              </a:ext>
            </a:extLst>
          </p:cNvPr>
          <p:cNvSpPr>
            <a:spLocks noGrp="1"/>
          </p:cNvSpPr>
          <p:nvPr>
            <p:ph type="dt" sz="half" idx="10"/>
          </p:nvPr>
        </p:nvSpPr>
        <p:spPr/>
        <p:txBody>
          <a:bodyPr/>
          <a:lstStyle/>
          <a:p>
            <a:fld id="{309B8479-2F90-44B6-AC3E-CEEABBEC5FC7}" type="datetimeFigureOut">
              <a:rPr lang="en-SG" smtClean="0"/>
              <a:t>5/11/2022</a:t>
            </a:fld>
            <a:endParaRPr lang="en-SG"/>
          </a:p>
        </p:txBody>
      </p:sp>
      <p:sp>
        <p:nvSpPr>
          <p:cNvPr id="4" name="Footer Placeholder 3">
            <a:extLst>
              <a:ext uri="{FF2B5EF4-FFF2-40B4-BE49-F238E27FC236}">
                <a16:creationId xmlns:a16="http://schemas.microsoft.com/office/drawing/2014/main" id="{FBC719B1-4E85-5E80-ECD2-F77872018229}"/>
              </a:ext>
            </a:extLst>
          </p:cNvPr>
          <p:cNvSpPr>
            <a:spLocks noGrp="1"/>
          </p:cNvSpPr>
          <p:nvPr>
            <p:ph type="ftr" sz="quarter" idx="11"/>
          </p:nvPr>
        </p:nvSpPr>
        <p:spPr/>
        <p:txBody>
          <a:bodyPr/>
          <a:lstStyle/>
          <a:p>
            <a:endParaRPr lang="en-SG"/>
          </a:p>
        </p:txBody>
      </p:sp>
      <p:sp>
        <p:nvSpPr>
          <p:cNvPr id="5" name="Slide Number Placeholder 4">
            <a:extLst>
              <a:ext uri="{FF2B5EF4-FFF2-40B4-BE49-F238E27FC236}">
                <a16:creationId xmlns:a16="http://schemas.microsoft.com/office/drawing/2014/main" id="{6A38FEEE-15DA-F086-41AF-8F0A4581345E}"/>
              </a:ext>
            </a:extLst>
          </p:cNvPr>
          <p:cNvSpPr>
            <a:spLocks noGrp="1"/>
          </p:cNvSpPr>
          <p:nvPr>
            <p:ph type="sldNum" sz="quarter" idx="12"/>
          </p:nvPr>
        </p:nvSpPr>
        <p:spPr/>
        <p:txBody>
          <a:bodyPr/>
          <a:lstStyle/>
          <a:p>
            <a:fld id="{37995446-E595-47E8-8D18-DDB08AF12F81}" type="slidenum">
              <a:rPr lang="en-SG" smtClean="0"/>
              <a:t>‹#›</a:t>
            </a:fld>
            <a:endParaRPr lang="en-SG"/>
          </a:p>
        </p:txBody>
      </p:sp>
    </p:spTree>
    <p:extLst>
      <p:ext uri="{BB962C8B-B14F-4D97-AF65-F5344CB8AC3E}">
        <p14:creationId xmlns:p14="http://schemas.microsoft.com/office/powerpoint/2010/main" val="13200581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00B2E3F-7D0E-2166-1D86-77347D3F1098}"/>
              </a:ext>
            </a:extLst>
          </p:cNvPr>
          <p:cNvSpPr>
            <a:spLocks noGrp="1"/>
          </p:cNvSpPr>
          <p:nvPr>
            <p:ph type="dt" sz="half" idx="10"/>
          </p:nvPr>
        </p:nvSpPr>
        <p:spPr/>
        <p:txBody>
          <a:bodyPr/>
          <a:lstStyle/>
          <a:p>
            <a:fld id="{309B8479-2F90-44B6-AC3E-CEEABBEC5FC7}" type="datetimeFigureOut">
              <a:rPr lang="en-SG" smtClean="0"/>
              <a:t>5/11/2022</a:t>
            </a:fld>
            <a:endParaRPr lang="en-SG"/>
          </a:p>
        </p:txBody>
      </p:sp>
      <p:sp>
        <p:nvSpPr>
          <p:cNvPr id="3" name="Footer Placeholder 2">
            <a:extLst>
              <a:ext uri="{FF2B5EF4-FFF2-40B4-BE49-F238E27FC236}">
                <a16:creationId xmlns:a16="http://schemas.microsoft.com/office/drawing/2014/main" id="{4AC04DCB-CF86-7302-6BEA-0AA70A75B860}"/>
              </a:ext>
            </a:extLst>
          </p:cNvPr>
          <p:cNvSpPr>
            <a:spLocks noGrp="1"/>
          </p:cNvSpPr>
          <p:nvPr>
            <p:ph type="ftr" sz="quarter" idx="11"/>
          </p:nvPr>
        </p:nvSpPr>
        <p:spPr/>
        <p:txBody>
          <a:bodyPr/>
          <a:lstStyle/>
          <a:p>
            <a:endParaRPr lang="en-SG"/>
          </a:p>
        </p:txBody>
      </p:sp>
      <p:sp>
        <p:nvSpPr>
          <p:cNvPr id="4" name="Slide Number Placeholder 3">
            <a:extLst>
              <a:ext uri="{FF2B5EF4-FFF2-40B4-BE49-F238E27FC236}">
                <a16:creationId xmlns:a16="http://schemas.microsoft.com/office/drawing/2014/main" id="{4D43FB24-F703-58D5-B2CB-CB84C4F69B1A}"/>
              </a:ext>
            </a:extLst>
          </p:cNvPr>
          <p:cNvSpPr>
            <a:spLocks noGrp="1"/>
          </p:cNvSpPr>
          <p:nvPr>
            <p:ph type="sldNum" sz="quarter" idx="12"/>
          </p:nvPr>
        </p:nvSpPr>
        <p:spPr/>
        <p:txBody>
          <a:bodyPr/>
          <a:lstStyle/>
          <a:p>
            <a:fld id="{37995446-E595-47E8-8D18-DDB08AF12F81}" type="slidenum">
              <a:rPr lang="en-SG" smtClean="0"/>
              <a:t>‹#›</a:t>
            </a:fld>
            <a:endParaRPr lang="en-SG"/>
          </a:p>
        </p:txBody>
      </p:sp>
    </p:spTree>
    <p:extLst>
      <p:ext uri="{BB962C8B-B14F-4D97-AF65-F5344CB8AC3E}">
        <p14:creationId xmlns:p14="http://schemas.microsoft.com/office/powerpoint/2010/main" val="21852708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CBAE2-0547-5379-9773-39F095447D4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a:extLst>
              <a:ext uri="{FF2B5EF4-FFF2-40B4-BE49-F238E27FC236}">
                <a16:creationId xmlns:a16="http://schemas.microsoft.com/office/drawing/2014/main" id="{4B9B6419-7CC8-787D-3F94-C442CD956CE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a:extLst>
              <a:ext uri="{FF2B5EF4-FFF2-40B4-BE49-F238E27FC236}">
                <a16:creationId xmlns:a16="http://schemas.microsoft.com/office/drawing/2014/main" id="{D437ACD2-E35A-7CD2-0474-9D965BE8A47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BAA0C1-417F-C5FA-001A-A48E2EA24E0E}"/>
              </a:ext>
            </a:extLst>
          </p:cNvPr>
          <p:cNvSpPr>
            <a:spLocks noGrp="1"/>
          </p:cNvSpPr>
          <p:nvPr>
            <p:ph type="dt" sz="half" idx="10"/>
          </p:nvPr>
        </p:nvSpPr>
        <p:spPr/>
        <p:txBody>
          <a:bodyPr/>
          <a:lstStyle/>
          <a:p>
            <a:fld id="{309B8479-2F90-44B6-AC3E-CEEABBEC5FC7}" type="datetimeFigureOut">
              <a:rPr lang="en-SG" smtClean="0"/>
              <a:t>5/11/2022</a:t>
            </a:fld>
            <a:endParaRPr lang="en-SG"/>
          </a:p>
        </p:txBody>
      </p:sp>
      <p:sp>
        <p:nvSpPr>
          <p:cNvPr id="6" name="Footer Placeholder 5">
            <a:extLst>
              <a:ext uri="{FF2B5EF4-FFF2-40B4-BE49-F238E27FC236}">
                <a16:creationId xmlns:a16="http://schemas.microsoft.com/office/drawing/2014/main" id="{E331FE0A-7AC2-E32F-A287-2D33AF73F2A6}"/>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D025FFA2-460F-ED87-74B8-B1931A89A86C}"/>
              </a:ext>
            </a:extLst>
          </p:cNvPr>
          <p:cNvSpPr>
            <a:spLocks noGrp="1"/>
          </p:cNvSpPr>
          <p:nvPr>
            <p:ph type="sldNum" sz="quarter" idx="12"/>
          </p:nvPr>
        </p:nvSpPr>
        <p:spPr/>
        <p:txBody>
          <a:bodyPr/>
          <a:lstStyle/>
          <a:p>
            <a:fld id="{37995446-E595-47E8-8D18-DDB08AF12F81}" type="slidenum">
              <a:rPr lang="en-SG" smtClean="0"/>
              <a:t>‹#›</a:t>
            </a:fld>
            <a:endParaRPr lang="en-SG"/>
          </a:p>
        </p:txBody>
      </p:sp>
    </p:spTree>
    <p:extLst>
      <p:ext uri="{BB962C8B-B14F-4D97-AF65-F5344CB8AC3E}">
        <p14:creationId xmlns:p14="http://schemas.microsoft.com/office/powerpoint/2010/main" val="42772748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BA3815-D975-D46C-ADE5-AFF0B59200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a:extLst>
              <a:ext uri="{FF2B5EF4-FFF2-40B4-BE49-F238E27FC236}">
                <a16:creationId xmlns:a16="http://schemas.microsoft.com/office/drawing/2014/main" id="{83663CE9-0F9B-27BA-FA95-DEA9EA8472A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G"/>
          </a:p>
        </p:txBody>
      </p:sp>
      <p:sp>
        <p:nvSpPr>
          <p:cNvPr id="4" name="Text Placeholder 3">
            <a:extLst>
              <a:ext uri="{FF2B5EF4-FFF2-40B4-BE49-F238E27FC236}">
                <a16:creationId xmlns:a16="http://schemas.microsoft.com/office/drawing/2014/main" id="{F11A4AD5-8D40-0DFC-94B3-C4D38C1DB2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0CC717-5AED-0CC7-4E13-BAADD9E75DF7}"/>
              </a:ext>
            </a:extLst>
          </p:cNvPr>
          <p:cNvSpPr>
            <a:spLocks noGrp="1"/>
          </p:cNvSpPr>
          <p:nvPr>
            <p:ph type="dt" sz="half" idx="10"/>
          </p:nvPr>
        </p:nvSpPr>
        <p:spPr/>
        <p:txBody>
          <a:bodyPr/>
          <a:lstStyle/>
          <a:p>
            <a:fld id="{309B8479-2F90-44B6-AC3E-CEEABBEC5FC7}" type="datetimeFigureOut">
              <a:rPr lang="en-SG" smtClean="0"/>
              <a:t>5/11/2022</a:t>
            </a:fld>
            <a:endParaRPr lang="en-SG"/>
          </a:p>
        </p:txBody>
      </p:sp>
      <p:sp>
        <p:nvSpPr>
          <p:cNvPr id="6" name="Footer Placeholder 5">
            <a:extLst>
              <a:ext uri="{FF2B5EF4-FFF2-40B4-BE49-F238E27FC236}">
                <a16:creationId xmlns:a16="http://schemas.microsoft.com/office/drawing/2014/main" id="{912212E0-20AE-402E-1A24-4C21C8CDBCCA}"/>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65895541-843A-D4C6-0EE4-093F5B370E50}"/>
              </a:ext>
            </a:extLst>
          </p:cNvPr>
          <p:cNvSpPr>
            <a:spLocks noGrp="1"/>
          </p:cNvSpPr>
          <p:nvPr>
            <p:ph type="sldNum" sz="quarter" idx="12"/>
          </p:nvPr>
        </p:nvSpPr>
        <p:spPr/>
        <p:txBody>
          <a:bodyPr/>
          <a:lstStyle/>
          <a:p>
            <a:fld id="{37995446-E595-47E8-8D18-DDB08AF12F81}" type="slidenum">
              <a:rPr lang="en-SG" smtClean="0"/>
              <a:t>‹#›</a:t>
            </a:fld>
            <a:endParaRPr lang="en-SG"/>
          </a:p>
        </p:txBody>
      </p:sp>
    </p:spTree>
    <p:extLst>
      <p:ext uri="{BB962C8B-B14F-4D97-AF65-F5344CB8AC3E}">
        <p14:creationId xmlns:p14="http://schemas.microsoft.com/office/powerpoint/2010/main" val="6489504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C5FA6-91DA-DB37-5051-261AABD0227C}"/>
              </a:ext>
            </a:extLst>
          </p:cNvPr>
          <p:cNvSpPr>
            <a:spLocks noGrp="1"/>
          </p:cNvSpPr>
          <p:nvPr>
            <p:ph type="title"/>
          </p:nvPr>
        </p:nvSpPr>
        <p:spPr/>
        <p:txBody>
          <a:bodyPr/>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CC73C60C-09C5-204F-6292-B28B539AC5E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24446C1D-4D89-ACE4-EDBC-8B2845918D12}"/>
              </a:ext>
            </a:extLst>
          </p:cNvPr>
          <p:cNvSpPr>
            <a:spLocks noGrp="1"/>
          </p:cNvSpPr>
          <p:nvPr>
            <p:ph type="dt" sz="half" idx="10"/>
          </p:nvPr>
        </p:nvSpPr>
        <p:spPr/>
        <p:txBody>
          <a:bodyPr/>
          <a:lstStyle/>
          <a:p>
            <a:fld id="{309B8479-2F90-44B6-AC3E-CEEABBEC5FC7}" type="datetimeFigureOut">
              <a:rPr lang="en-SG" smtClean="0"/>
              <a:t>5/11/2022</a:t>
            </a:fld>
            <a:endParaRPr lang="en-SG"/>
          </a:p>
        </p:txBody>
      </p:sp>
      <p:sp>
        <p:nvSpPr>
          <p:cNvPr id="5" name="Footer Placeholder 4">
            <a:extLst>
              <a:ext uri="{FF2B5EF4-FFF2-40B4-BE49-F238E27FC236}">
                <a16:creationId xmlns:a16="http://schemas.microsoft.com/office/drawing/2014/main" id="{E1B389D1-C2F2-568E-35C2-48163EAC56A1}"/>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8338B3D0-8822-8785-C136-70AC17AFE99F}"/>
              </a:ext>
            </a:extLst>
          </p:cNvPr>
          <p:cNvSpPr>
            <a:spLocks noGrp="1"/>
          </p:cNvSpPr>
          <p:nvPr>
            <p:ph type="sldNum" sz="quarter" idx="12"/>
          </p:nvPr>
        </p:nvSpPr>
        <p:spPr/>
        <p:txBody>
          <a:bodyPr/>
          <a:lstStyle/>
          <a:p>
            <a:fld id="{37995446-E595-47E8-8D18-DDB08AF12F81}" type="slidenum">
              <a:rPr lang="en-SG" smtClean="0"/>
              <a:t>‹#›</a:t>
            </a:fld>
            <a:endParaRPr lang="en-SG"/>
          </a:p>
        </p:txBody>
      </p:sp>
    </p:spTree>
    <p:extLst>
      <p:ext uri="{BB962C8B-B14F-4D97-AF65-F5344CB8AC3E}">
        <p14:creationId xmlns:p14="http://schemas.microsoft.com/office/powerpoint/2010/main" val="18086179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AD934B6-CFC4-09EA-9F7E-028B65B137A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9B6D440B-1E22-7E2B-981E-7E0111D46C9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75E3B636-6683-35CA-9551-5ECE591FAE75}"/>
              </a:ext>
            </a:extLst>
          </p:cNvPr>
          <p:cNvSpPr>
            <a:spLocks noGrp="1"/>
          </p:cNvSpPr>
          <p:nvPr>
            <p:ph type="dt" sz="half" idx="10"/>
          </p:nvPr>
        </p:nvSpPr>
        <p:spPr/>
        <p:txBody>
          <a:bodyPr/>
          <a:lstStyle/>
          <a:p>
            <a:fld id="{309B8479-2F90-44B6-AC3E-CEEABBEC5FC7}" type="datetimeFigureOut">
              <a:rPr lang="en-SG" smtClean="0"/>
              <a:t>5/11/2022</a:t>
            </a:fld>
            <a:endParaRPr lang="en-SG"/>
          </a:p>
        </p:txBody>
      </p:sp>
      <p:sp>
        <p:nvSpPr>
          <p:cNvPr id="5" name="Footer Placeholder 4">
            <a:extLst>
              <a:ext uri="{FF2B5EF4-FFF2-40B4-BE49-F238E27FC236}">
                <a16:creationId xmlns:a16="http://schemas.microsoft.com/office/drawing/2014/main" id="{CEA4F123-F59E-683B-1784-541DCF120348}"/>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CFCBD567-C276-17F7-A561-6E105E72B81A}"/>
              </a:ext>
            </a:extLst>
          </p:cNvPr>
          <p:cNvSpPr>
            <a:spLocks noGrp="1"/>
          </p:cNvSpPr>
          <p:nvPr>
            <p:ph type="sldNum" sz="quarter" idx="12"/>
          </p:nvPr>
        </p:nvSpPr>
        <p:spPr/>
        <p:txBody>
          <a:bodyPr/>
          <a:lstStyle/>
          <a:p>
            <a:fld id="{37995446-E595-47E8-8D18-DDB08AF12F81}" type="slidenum">
              <a:rPr lang="en-SG" smtClean="0"/>
              <a:t>‹#›</a:t>
            </a:fld>
            <a:endParaRPr lang="en-SG"/>
          </a:p>
        </p:txBody>
      </p:sp>
    </p:spTree>
    <p:extLst>
      <p:ext uri="{BB962C8B-B14F-4D97-AF65-F5344CB8AC3E}">
        <p14:creationId xmlns:p14="http://schemas.microsoft.com/office/powerpoint/2010/main" val="19525693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1E02D0-4685-C47E-508F-AF8D228F41E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BB3FD33B-2643-D49D-D164-AD08B354F1B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2E51AE92-5418-4701-4AC8-AF58664D14E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09B8479-2F90-44B6-AC3E-CEEABBEC5FC7}" type="datetimeFigureOut">
              <a:rPr lang="en-SG" smtClean="0"/>
              <a:t>5/11/2022</a:t>
            </a:fld>
            <a:endParaRPr lang="en-SG"/>
          </a:p>
        </p:txBody>
      </p:sp>
      <p:sp>
        <p:nvSpPr>
          <p:cNvPr id="5" name="Footer Placeholder 4">
            <a:extLst>
              <a:ext uri="{FF2B5EF4-FFF2-40B4-BE49-F238E27FC236}">
                <a16:creationId xmlns:a16="http://schemas.microsoft.com/office/drawing/2014/main" id="{9F40D463-827C-1BC6-F80F-D503A331BD4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SG"/>
          </a:p>
        </p:txBody>
      </p:sp>
      <p:sp>
        <p:nvSpPr>
          <p:cNvPr id="6" name="Slide Number Placeholder 5">
            <a:extLst>
              <a:ext uri="{FF2B5EF4-FFF2-40B4-BE49-F238E27FC236}">
                <a16:creationId xmlns:a16="http://schemas.microsoft.com/office/drawing/2014/main" id="{0BF611D4-9A47-9B62-1FD3-D1E2ADBFE3F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7995446-E595-47E8-8D18-DDB08AF12F81}" type="slidenum">
              <a:rPr lang="en-SG" smtClean="0"/>
              <a:t>‹#›</a:t>
            </a:fld>
            <a:endParaRPr lang="en-SG"/>
          </a:p>
        </p:txBody>
      </p:sp>
    </p:spTree>
    <p:extLst>
      <p:ext uri="{BB962C8B-B14F-4D97-AF65-F5344CB8AC3E}">
        <p14:creationId xmlns:p14="http://schemas.microsoft.com/office/powerpoint/2010/main" val="27084279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oleObject" Target="../embeddings/oleObject1.bin"/><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2.bin"/><Relationship Id="rId1" Type="http://schemas.openxmlformats.org/officeDocument/2006/relationships/slideLayout" Target="../slideLayouts/slideLayout2.xml"/><Relationship Id="rId4" Type="http://schemas.openxmlformats.org/officeDocument/2006/relationships/oleObject" Target="../embeddings/oleObject3.bin"/></Relationships>
</file>

<file path=ppt/slides/_rels/slide4.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oleObject" Target="../embeddings/oleObject4.bin"/><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proxy.lvmh:9480/"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1.wmf"/></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https://pp-intilb1-mulapi.dfsglobal.cn:32009/web/login"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oleObject" Target="../embeddings/oleObject6.bin"/><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oleObject" Target="../embeddings/oleObject7.bin"/><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oleObject" Target="../embeddings/oleObject8.bin"/><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a:extLst>
              <a:ext uri="{FF2B5EF4-FFF2-40B4-BE49-F238E27FC236}">
                <a16:creationId xmlns:a16="http://schemas.microsoft.com/office/drawing/2014/main" id="{03E29512-991E-C122-557D-AFB727DCEF91}"/>
              </a:ext>
            </a:extLst>
          </p:cNvPr>
          <p:cNvGraphicFramePr>
            <a:graphicFrameLocks noChangeAspect="1"/>
          </p:cNvGraphicFramePr>
          <p:nvPr>
            <p:extLst>
              <p:ext uri="{D42A27DB-BD31-4B8C-83A1-F6EECF244321}">
                <p14:modId xmlns:p14="http://schemas.microsoft.com/office/powerpoint/2010/main" val="263327189"/>
              </p:ext>
            </p:extLst>
          </p:nvPr>
        </p:nvGraphicFramePr>
        <p:xfrm>
          <a:off x="1497013" y="2365231"/>
          <a:ext cx="3101975" cy="3455987"/>
        </p:xfrm>
        <a:graphic>
          <a:graphicData uri="http://schemas.openxmlformats.org/presentationml/2006/ole">
            <mc:AlternateContent xmlns:mc="http://schemas.openxmlformats.org/markup-compatibility/2006">
              <mc:Choice xmlns:v="urn:schemas-microsoft-com:vml" Requires="v">
                <p:oleObj name="Bitmap Image" r:id="rId2" imgW="3102480" imgH="3456360" progId="PBrush">
                  <p:embed/>
                </p:oleObj>
              </mc:Choice>
              <mc:Fallback>
                <p:oleObj name="Bitmap Image" r:id="rId2" imgW="3102480" imgH="3456360" progId="PBrush">
                  <p:embed/>
                  <p:pic>
                    <p:nvPicPr>
                      <p:cNvPr id="0" name=""/>
                      <p:cNvPicPr/>
                      <p:nvPr/>
                    </p:nvPicPr>
                    <p:blipFill>
                      <a:blip r:embed="rId3"/>
                      <a:stretch>
                        <a:fillRect/>
                      </a:stretch>
                    </p:blipFill>
                    <p:spPr>
                      <a:xfrm>
                        <a:off x="1497013" y="2365231"/>
                        <a:ext cx="3101975" cy="3455987"/>
                      </a:xfrm>
                      <a:prstGeom prst="rect">
                        <a:avLst/>
                      </a:prstGeom>
                    </p:spPr>
                  </p:pic>
                </p:oleObj>
              </mc:Fallback>
            </mc:AlternateContent>
          </a:graphicData>
        </a:graphic>
      </p:graphicFrame>
      <p:sp>
        <p:nvSpPr>
          <p:cNvPr id="5" name="TextBox 4">
            <a:extLst>
              <a:ext uri="{FF2B5EF4-FFF2-40B4-BE49-F238E27FC236}">
                <a16:creationId xmlns:a16="http://schemas.microsoft.com/office/drawing/2014/main" id="{C01111E1-F0C9-C68A-ECE3-A4020442C2E5}"/>
              </a:ext>
            </a:extLst>
          </p:cNvPr>
          <p:cNvSpPr txBox="1"/>
          <p:nvPr/>
        </p:nvSpPr>
        <p:spPr>
          <a:xfrm>
            <a:off x="858982" y="616527"/>
            <a:ext cx="8049491" cy="1477328"/>
          </a:xfrm>
          <a:prstGeom prst="rect">
            <a:avLst/>
          </a:prstGeom>
          <a:noFill/>
        </p:spPr>
        <p:txBody>
          <a:bodyPr wrap="square" rtlCol="0">
            <a:spAutoFit/>
          </a:bodyPr>
          <a:lstStyle/>
          <a:p>
            <a:pPr marL="342900" indent="-342900">
              <a:buAutoNum type="arabicPeriod"/>
            </a:pPr>
            <a:r>
              <a:rPr lang="en-US" dirty="0"/>
              <a:t>Login into Anypoint Platform and Choose the business group where we want to install RTF.</a:t>
            </a:r>
          </a:p>
          <a:p>
            <a:pPr marL="342900" indent="-342900">
              <a:buAutoNum type="arabicPeriod"/>
            </a:pPr>
            <a:r>
              <a:rPr lang="en-US" dirty="0"/>
              <a:t>Go to Runtime Manager option</a:t>
            </a:r>
          </a:p>
          <a:p>
            <a:pPr marL="342900" indent="-342900">
              <a:buAutoNum type="arabicPeriod"/>
            </a:pPr>
            <a:r>
              <a:rPr lang="en-US" dirty="0"/>
              <a:t>Click Runtime Fabrics from left side navigation</a:t>
            </a:r>
          </a:p>
          <a:p>
            <a:pPr marL="342900" indent="-342900">
              <a:buAutoNum type="arabicPeriod"/>
            </a:pPr>
            <a:r>
              <a:rPr lang="en-US" dirty="0"/>
              <a:t>Create Runtime Fabric</a:t>
            </a:r>
            <a:endParaRPr lang="en-SG" dirty="0"/>
          </a:p>
        </p:txBody>
      </p:sp>
      <p:sp>
        <p:nvSpPr>
          <p:cNvPr id="6" name="TextBox 5">
            <a:extLst>
              <a:ext uri="{FF2B5EF4-FFF2-40B4-BE49-F238E27FC236}">
                <a16:creationId xmlns:a16="http://schemas.microsoft.com/office/drawing/2014/main" id="{1A64A8A6-2426-753E-564C-7769CC47C759}"/>
              </a:ext>
            </a:extLst>
          </p:cNvPr>
          <p:cNvSpPr txBox="1"/>
          <p:nvPr/>
        </p:nvSpPr>
        <p:spPr>
          <a:xfrm>
            <a:off x="193964" y="90055"/>
            <a:ext cx="4835236" cy="369332"/>
          </a:xfrm>
          <a:prstGeom prst="rect">
            <a:avLst/>
          </a:prstGeom>
          <a:noFill/>
        </p:spPr>
        <p:txBody>
          <a:bodyPr wrap="square" rtlCol="0">
            <a:spAutoFit/>
          </a:bodyPr>
          <a:lstStyle/>
          <a:p>
            <a:r>
              <a:rPr lang="en-US" b="1" dirty="0"/>
              <a:t>Register Runtime Fabric in Anypoint Platform</a:t>
            </a:r>
            <a:endParaRPr lang="en-SG" b="1" dirty="0"/>
          </a:p>
        </p:txBody>
      </p:sp>
    </p:spTree>
    <p:extLst>
      <p:ext uri="{BB962C8B-B14F-4D97-AF65-F5344CB8AC3E}">
        <p14:creationId xmlns:p14="http://schemas.microsoft.com/office/powerpoint/2010/main" val="16394111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01111E1-F0C9-C68A-ECE3-A4020442C2E5}"/>
              </a:ext>
            </a:extLst>
          </p:cNvPr>
          <p:cNvSpPr txBox="1"/>
          <p:nvPr/>
        </p:nvSpPr>
        <p:spPr>
          <a:xfrm>
            <a:off x="858982" y="616527"/>
            <a:ext cx="8049491" cy="923330"/>
          </a:xfrm>
          <a:prstGeom prst="rect">
            <a:avLst/>
          </a:prstGeom>
          <a:noFill/>
        </p:spPr>
        <p:txBody>
          <a:bodyPr wrap="square" rtlCol="0">
            <a:spAutoFit/>
          </a:bodyPr>
          <a:lstStyle/>
          <a:p>
            <a:pPr marL="342900" indent="-342900">
              <a:buAutoNum type="arabicPeriod"/>
            </a:pPr>
            <a:r>
              <a:rPr lang="en-US" dirty="0"/>
              <a:t>Provide name for your RTF cluster.</a:t>
            </a:r>
          </a:p>
          <a:p>
            <a:pPr marL="342900" indent="-342900">
              <a:buAutoNum type="arabicPeriod"/>
            </a:pPr>
            <a:r>
              <a:rPr lang="en-US" dirty="0"/>
              <a:t>Select VM or bare metal options</a:t>
            </a:r>
          </a:p>
          <a:p>
            <a:pPr marL="342900" indent="-342900">
              <a:buAutoNum type="arabicPeriod"/>
            </a:pPr>
            <a:r>
              <a:rPr lang="en-US" dirty="0"/>
              <a:t>Click Next</a:t>
            </a:r>
            <a:endParaRPr lang="en-SG" dirty="0"/>
          </a:p>
        </p:txBody>
      </p:sp>
      <p:pic>
        <p:nvPicPr>
          <p:cNvPr id="3" name="Picture 2">
            <a:extLst>
              <a:ext uri="{FF2B5EF4-FFF2-40B4-BE49-F238E27FC236}">
                <a16:creationId xmlns:a16="http://schemas.microsoft.com/office/drawing/2014/main" id="{ED987010-E746-D051-F1A4-952F8E3D240D}"/>
              </a:ext>
            </a:extLst>
          </p:cNvPr>
          <p:cNvPicPr>
            <a:picLocks noChangeAspect="1"/>
          </p:cNvPicPr>
          <p:nvPr/>
        </p:nvPicPr>
        <p:blipFill>
          <a:blip r:embed="rId2"/>
          <a:stretch>
            <a:fillRect/>
          </a:stretch>
        </p:blipFill>
        <p:spPr>
          <a:xfrm>
            <a:off x="2472758" y="1891146"/>
            <a:ext cx="3177098" cy="4551216"/>
          </a:xfrm>
          <a:prstGeom prst="rect">
            <a:avLst/>
          </a:prstGeom>
        </p:spPr>
      </p:pic>
    </p:spTree>
    <p:extLst>
      <p:ext uri="{BB962C8B-B14F-4D97-AF65-F5344CB8AC3E}">
        <p14:creationId xmlns:p14="http://schemas.microsoft.com/office/powerpoint/2010/main" val="11811607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a:extLst>
              <a:ext uri="{FF2B5EF4-FFF2-40B4-BE49-F238E27FC236}">
                <a16:creationId xmlns:a16="http://schemas.microsoft.com/office/drawing/2014/main" id="{265A00F4-3359-54FE-C657-B3D0DD7E4A50}"/>
              </a:ext>
            </a:extLst>
          </p:cNvPr>
          <p:cNvGraphicFramePr>
            <a:graphicFrameLocks noChangeAspect="1"/>
          </p:cNvGraphicFramePr>
          <p:nvPr>
            <p:extLst>
              <p:ext uri="{D42A27DB-BD31-4B8C-83A1-F6EECF244321}">
                <p14:modId xmlns:p14="http://schemas.microsoft.com/office/powerpoint/2010/main" val="1980186653"/>
              </p:ext>
            </p:extLst>
          </p:nvPr>
        </p:nvGraphicFramePr>
        <p:xfrm>
          <a:off x="2840759" y="1086572"/>
          <a:ext cx="6107113" cy="5502275"/>
        </p:xfrm>
        <a:graphic>
          <a:graphicData uri="http://schemas.openxmlformats.org/presentationml/2006/ole">
            <mc:AlternateContent xmlns:mc="http://schemas.openxmlformats.org/markup-compatibility/2006">
              <mc:Choice xmlns:v="urn:schemas-microsoft-com:vml" Requires="v">
                <p:oleObj name="Bitmap Image" r:id="rId2" imgW="6107040" imgH="5502600" progId="PBrush">
                  <p:embed/>
                </p:oleObj>
              </mc:Choice>
              <mc:Fallback>
                <p:oleObj name="Bitmap Image" r:id="rId2" imgW="6107040" imgH="5502600" progId="PBrush">
                  <p:embed/>
                  <p:pic>
                    <p:nvPicPr>
                      <p:cNvPr id="0" name=""/>
                      <p:cNvPicPr/>
                      <p:nvPr/>
                    </p:nvPicPr>
                    <p:blipFill>
                      <a:blip r:embed="rId3"/>
                      <a:stretch>
                        <a:fillRect/>
                      </a:stretch>
                    </p:blipFill>
                    <p:spPr>
                      <a:xfrm>
                        <a:off x="2840759" y="1086572"/>
                        <a:ext cx="6107113" cy="5502275"/>
                      </a:xfrm>
                      <a:prstGeom prst="rect">
                        <a:avLst/>
                      </a:prstGeom>
                    </p:spPr>
                  </p:pic>
                </p:oleObj>
              </mc:Fallback>
            </mc:AlternateContent>
          </a:graphicData>
        </a:graphic>
      </p:graphicFrame>
      <p:sp>
        <p:nvSpPr>
          <p:cNvPr id="5" name="TextBox 4">
            <a:extLst>
              <a:ext uri="{FF2B5EF4-FFF2-40B4-BE49-F238E27FC236}">
                <a16:creationId xmlns:a16="http://schemas.microsoft.com/office/drawing/2014/main" id="{FC3268BB-5570-F319-EFE9-549E8463BCB9}"/>
              </a:ext>
            </a:extLst>
          </p:cNvPr>
          <p:cNvSpPr txBox="1"/>
          <p:nvPr/>
        </p:nvSpPr>
        <p:spPr>
          <a:xfrm>
            <a:off x="512618" y="269153"/>
            <a:ext cx="8049491" cy="923330"/>
          </a:xfrm>
          <a:prstGeom prst="rect">
            <a:avLst/>
          </a:prstGeom>
          <a:noFill/>
        </p:spPr>
        <p:txBody>
          <a:bodyPr wrap="square" rtlCol="0">
            <a:spAutoFit/>
          </a:bodyPr>
          <a:lstStyle/>
          <a:p>
            <a:pPr marL="342900" indent="-342900">
              <a:buAutoNum type="arabicPeriod"/>
            </a:pPr>
            <a:r>
              <a:rPr lang="en-US" dirty="0"/>
              <a:t>Click Download files to download RTF installer configuration files</a:t>
            </a:r>
          </a:p>
          <a:p>
            <a:pPr marL="342900" indent="-342900">
              <a:buAutoNum type="arabicPeriod"/>
            </a:pPr>
            <a:r>
              <a:rPr lang="en-US" dirty="0"/>
              <a:t>Copy the activation data (we will use this data as part of installation from VM)</a:t>
            </a:r>
          </a:p>
          <a:p>
            <a:pPr marL="342900" indent="-342900">
              <a:buAutoNum type="arabicPeriod"/>
            </a:pPr>
            <a:r>
              <a:rPr lang="en-US" dirty="0"/>
              <a:t>Go back to previous page</a:t>
            </a:r>
            <a:endParaRPr lang="en-SG" dirty="0"/>
          </a:p>
        </p:txBody>
      </p:sp>
      <p:graphicFrame>
        <p:nvGraphicFramePr>
          <p:cNvPr id="6" name="Object 5">
            <a:extLst>
              <a:ext uri="{FF2B5EF4-FFF2-40B4-BE49-F238E27FC236}">
                <a16:creationId xmlns:a16="http://schemas.microsoft.com/office/drawing/2014/main" id="{D4B99FE1-4043-2E59-7C6E-80A8068297B6}"/>
              </a:ext>
            </a:extLst>
          </p:cNvPr>
          <p:cNvGraphicFramePr>
            <a:graphicFrameLocks noChangeAspect="1"/>
          </p:cNvGraphicFramePr>
          <p:nvPr>
            <p:extLst>
              <p:ext uri="{D42A27DB-BD31-4B8C-83A1-F6EECF244321}">
                <p14:modId xmlns:p14="http://schemas.microsoft.com/office/powerpoint/2010/main" val="1980186653"/>
              </p:ext>
            </p:extLst>
          </p:nvPr>
        </p:nvGraphicFramePr>
        <p:xfrm>
          <a:off x="2840759" y="1148918"/>
          <a:ext cx="6107113" cy="5502275"/>
        </p:xfrm>
        <a:graphic>
          <a:graphicData uri="http://schemas.openxmlformats.org/presentationml/2006/ole">
            <mc:AlternateContent xmlns:mc="http://schemas.openxmlformats.org/markup-compatibility/2006">
              <mc:Choice xmlns:v="urn:schemas-microsoft-com:vml" Requires="v">
                <p:oleObj name="Bitmap Image" r:id="rId4" imgW="6107040" imgH="5502600" progId="PBrush">
                  <p:embed/>
                </p:oleObj>
              </mc:Choice>
              <mc:Fallback>
                <p:oleObj name="Bitmap Image" r:id="rId4" imgW="6107040" imgH="5502600" progId="PBrush">
                  <p:embed/>
                  <p:pic>
                    <p:nvPicPr>
                      <p:cNvPr id="4" name="Object 3">
                        <a:extLst>
                          <a:ext uri="{FF2B5EF4-FFF2-40B4-BE49-F238E27FC236}">
                            <a16:creationId xmlns:a16="http://schemas.microsoft.com/office/drawing/2014/main" id="{265A00F4-3359-54FE-C657-B3D0DD7E4A50}"/>
                          </a:ext>
                        </a:extLst>
                      </p:cNvPr>
                      <p:cNvPicPr/>
                      <p:nvPr/>
                    </p:nvPicPr>
                    <p:blipFill>
                      <a:blip r:embed="rId3"/>
                      <a:stretch>
                        <a:fillRect/>
                      </a:stretch>
                    </p:blipFill>
                    <p:spPr>
                      <a:xfrm>
                        <a:off x="2840759" y="1148918"/>
                        <a:ext cx="6107113" cy="5502275"/>
                      </a:xfrm>
                      <a:prstGeom prst="rect">
                        <a:avLst/>
                      </a:prstGeom>
                    </p:spPr>
                  </p:pic>
                </p:oleObj>
              </mc:Fallback>
            </mc:AlternateContent>
          </a:graphicData>
        </a:graphic>
      </p:graphicFrame>
    </p:spTree>
    <p:extLst>
      <p:ext uri="{BB962C8B-B14F-4D97-AF65-F5344CB8AC3E}">
        <p14:creationId xmlns:p14="http://schemas.microsoft.com/office/powerpoint/2010/main" val="37861544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C3268BB-5570-F319-EFE9-549E8463BCB9}"/>
              </a:ext>
            </a:extLst>
          </p:cNvPr>
          <p:cNvSpPr txBox="1"/>
          <p:nvPr/>
        </p:nvSpPr>
        <p:spPr>
          <a:xfrm>
            <a:off x="477982" y="353291"/>
            <a:ext cx="11121881" cy="923330"/>
          </a:xfrm>
          <a:prstGeom prst="rect">
            <a:avLst/>
          </a:prstGeom>
          <a:noFill/>
        </p:spPr>
        <p:txBody>
          <a:bodyPr wrap="square" rtlCol="0">
            <a:spAutoFit/>
          </a:bodyPr>
          <a:lstStyle/>
          <a:p>
            <a:pPr marL="342900" indent="-342900">
              <a:buAutoNum type="arabicPeriod"/>
            </a:pPr>
            <a:r>
              <a:rPr lang="en-US" dirty="0"/>
              <a:t>Once you come to the main page, we will see Runtime Fabric which we registered and it will show </a:t>
            </a:r>
            <a:r>
              <a:rPr lang="en-US" b="1" i="1" dirty="0"/>
              <a:t>ready for activation</a:t>
            </a:r>
            <a:r>
              <a:rPr lang="en-US" dirty="0"/>
              <a:t>.</a:t>
            </a:r>
          </a:p>
          <a:p>
            <a:pPr marL="342900" indent="-342900">
              <a:buAutoNum type="arabicPeriod"/>
            </a:pPr>
            <a:r>
              <a:rPr lang="en-US" dirty="0"/>
              <a:t>Now, we have successfully registered Runtime Fabric environment from Anypoint platform</a:t>
            </a:r>
            <a:endParaRPr lang="en-SG" dirty="0"/>
          </a:p>
        </p:txBody>
      </p:sp>
      <p:graphicFrame>
        <p:nvGraphicFramePr>
          <p:cNvPr id="2" name="Object 1">
            <a:extLst>
              <a:ext uri="{FF2B5EF4-FFF2-40B4-BE49-F238E27FC236}">
                <a16:creationId xmlns:a16="http://schemas.microsoft.com/office/drawing/2014/main" id="{68013C79-A1BF-ECCE-8D12-24D8E7228D53}"/>
              </a:ext>
            </a:extLst>
          </p:cNvPr>
          <p:cNvGraphicFramePr>
            <a:graphicFrameLocks noChangeAspect="1"/>
          </p:cNvGraphicFramePr>
          <p:nvPr>
            <p:extLst>
              <p:ext uri="{D42A27DB-BD31-4B8C-83A1-F6EECF244321}">
                <p14:modId xmlns:p14="http://schemas.microsoft.com/office/powerpoint/2010/main" val="820128254"/>
              </p:ext>
            </p:extLst>
          </p:nvPr>
        </p:nvGraphicFramePr>
        <p:xfrm>
          <a:off x="593725" y="1639888"/>
          <a:ext cx="11006138" cy="3576637"/>
        </p:xfrm>
        <a:graphic>
          <a:graphicData uri="http://schemas.openxmlformats.org/presentationml/2006/ole">
            <mc:AlternateContent xmlns:mc="http://schemas.openxmlformats.org/markup-compatibility/2006">
              <mc:Choice xmlns:v="urn:schemas-microsoft-com:vml" Requires="v">
                <p:oleObj name="Bitmap Image" r:id="rId2" imgW="11005560" imgH="3575880" progId="PBrush">
                  <p:embed/>
                </p:oleObj>
              </mc:Choice>
              <mc:Fallback>
                <p:oleObj name="Bitmap Image" r:id="rId2" imgW="11005560" imgH="3575880" progId="PBrush">
                  <p:embed/>
                  <p:pic>
                    <p:nvPicPr>
                      <p:cNvPr id="0" name=""/>
                      <p:cNvPicPr/>
                      <p:nvPr/>
                    </p:nvPicPr>
                    <p:blipFill>
                      <a:blip r:embed="rId3"/>
                      <a:stretch>
                        <a:fillRect/>
                      </a:stretch>
                    </p:blipFill>
                    <p:spPr>
                      <a:xfrm>
                        <a:off x="593725" y="1639888"/>
                        <a:ext cx="11006138" cy="3576637"/>
                      </a:xfrm>
                      <a:prstGeom prst="rect">
                        <a:avLst/>
                      </a:prstGeom>
                    </p:spPr>
                  </p:pic>
                </p:oleObj>
              </mc:Fallback>
            </mc:AlternateContent>
          </a:graphicData>
        </a:graphic>
      </p:graphicFrame>
    </p:spTree>
    <p:extLst>
      <p:ext uri="{BB962C8B-B14F-4D97-AF65-F5344CB8AC3E}">
        <p14:creationId xmlns:p14="http://schemas.microsoft.com/office/powerpoint/2010/main" val="29754353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C3268BB-5570-F319-EFE9-549E8463BCB9}"/>
              </a:ext>
            </a:extLst>
          </p:cNvPr>
          <p:cNvSpPr txBox="1"/>
          <p:nvPr/>
        </p:nvSpPr>
        <p:spPr>
          <a:xfrm>
            <a:off x="477982" y="353291"/>
            <a:ext cx="11121881" cy="923330"/>
          </a:xfrm>
          <a:prstGeom prst="rect">
            <a:avLst/>
          </a:prstGeom>
          <a:noFill/>
        </p:spPr>
        <p:txBody>
          <a:bodyPr wrap="square" rtlCol="0">
            <a:spAutoFit/>
          </a:bodyPr>
          <a:lstStyle/>
          <a:p>
            <a:pPr marL="342900" indent="-342900">
              <a:buAutoNum type="arabicPeriod"/>
            </a:pPr>
            <a:r>
              <a:rPr lang="en-US" dirty="0"/>
              <a:t>Explore the file which downloaded</a:t>
            </a:r>
          </a:p>
          <a:p>
            <a:pPr marL="342900" indent="-342900">
              <a:buAutoNum type="arabicPeriod"/>
            </a:pPr>
            <a:r>
              <a:rPr lang="en-US" dirty="0"/>
              <a:t>generate-config.sh – will help to generate the required  configuration for installation</a:t>
            </a:r>
          </a:p>
          <a:p>
            <a:pPr marL="342900" indent="-342900">
              <a:buAutoNum type="arabicPeriod"/>
            </a:pPr>
            <a:r>
              <a:rPr lang="en-US" dirty="0"/>
              <a:t>Init.sh – Execute this file to install RTF workers/controllers</a:t>
            </a:r>
            <a:endParaRPr lang="en-SG" dirty="0"/>
          </a:p>
        </p:txBody>
      </p:sp>
      <p:pic>
        <p:nvPicPr>
          <p:cNvPr id="4" name="Picture 3">
            <a:extLst>
              <a:ext uri="{FF2B5EF4-FFF2-40B4-BE49-F238E27FC236}">
                <a16:creationId xmlns:a16="http://schemas.microsoft.com/office/drawing/2014/main" id="{463840B1-B02C-3185-F1E6-02F1F78AD60B}"/>
              </a:ext>
            </a:extLst>
          </p:cNvPr>
          <p:cNvPicPr>
            <a:picLocks noChangeAspect="1"/>
          </p:cNvPicPr>
          <p:nvPr/>
        </p:nvPicPr>
        <p:blipFill>
          <a:blip r:embed="rId2"/>
          <a:stretch>
            <a:fillRect/>
          </a:stretch>
        </p:blipFill>
        <p:spPr>
          <a:xfrm>
            <a:off x="1149927" y="1467947"/>
            <a:ext cx="7218218" cy="1786355"/>
          </a:xfrm>
          <a:prstGeom prst="rect">
            <a:avLst/>
          </a:prstGeom>
        </p:spPr>
      </p:pic>
      <p:pic>
        <p:nvPicPr>
          <p:cNvPr id="7" name="Picture 6">
            <a:extLst>
              <a:ext uri="{FF2B5EF4-FFF2-40B4-BE49-F238E27FC236}">
                <a16:creationId xmlns:a16="http://schemas.microsoft.com/office/drawing/2014/main" id="{9F993FD8-7C65-59B0-AE86-67DD06FD4D96}"/>
              </a:ext>
            </a:extLst>
          </p:cNvPr>
          <p:cNvPicPr>
            <a:picLocks noChangeAspect="1"/>
          </p:cNvPicPr>
          <p:nvPr/>
        </p:nvPicPr>
        <p:blipFill>
          <a:blip r:embed="rId3"/>
          <a:stretch>
            <a:fillRect/>
          </a:stretch>
        </p:blipFill>
        <p:spPr>
          <a:xfrm>
            <a:off x="1070118" y="4053972"/>
            <a:ext cx="9053945" cy="1886239"/>
          </a:xfrm>
          <a:prstGeom prst="rect">
            <a:avLst/>
          </a:prstGeom>
        </p:spPr>
      </p:pic>
    </p:spTree>
    <p:extLst>
      <p:ext uri="{BB962C8B-B14F-4D97-AF65-F5344CB8AC3E}">
        <p14:creationId xmlns:p14="http://schemas.microsoft.com/office/powerpoint/2010/main" val="13566000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AF6DB6A-4D43-43C2-C9EA-F5079448653A}"/>
              </a:ext>
            </a:extLst>
          </p:cNvPr>
          <p:cNvSpPr txBox="1"/>
          <p:nvPr/>
        </p:nvSpPr>
        <p:spPr>
          <a:xfrm>
            <a:off x="512618" y="269153"/>
            <a:ext cx="11277600" cy="6093976"/>
          </a:xfrm>
          <a:prstGeom prst="rect">
            <a:avLst/>
          </a:prstGeom>
          <a:noFill/>
        </p:spPr>
        <p:txBody>
          <a:bodyPr wrap="square" rtlCol="0">
            <a:spAutoFit/>
          </a:bodyPr>
          <a:lstStyle/>
          <a:p>
            <a:r>
              <a:rPr lang="en-US" b="1" u="sng" dirty="0"/>
              <a:t>Installation steps:</a:t>
            </a:r>
          </a:p>
          <a:p>
            <a:endParaRPr lang="en-US" b="1" u="sng" dirty="0"/>
          </a:p>
          <a:p>
            <a:r>
              <a:rPr lang="en-US" sz="1200" b="1" dirty="0"/>
              <a:t>Pre-</a:t>
            </a:r>
            <a:r>
              <a:rPr lang="en-US" sz="1200" b="1" dirty="0" err="1"/>
              <a:t>Requestives</a:t>
            </a:r>
            <a:r>
              <a:rPr lang="en-US" sz="1200" b="1" dirty="0"/>
              <a:t>:</a:t>
            </a:r>
          </a:p>
          <a:p>
            <a:r>
              <a:rPr lang="en-US" sz="1200" dirty="0"/>
              <a:t>3 – VM for controller node, 3 – VM for worker node. </a:t>
            </a:r>
          </a:p>
          <a:p>
            <a:r>
              <a:rPr lang="en-SG" sz="1200" dirty="0">
                <a:solidFill>
                  <a:srgbClr val="242424"/>
                </a:solidFill>
                <a:latin typeface="Calibri" panose="020F0502020204030204" pitchFamily="34" charset="0"/>
              </a:rPr>
              <a:t>In controller nodes, allocate file system vdc with 150 GB and </a:t>
            </a:r>
            <a:r>
              <a:rPr lang="en-SG" sz="1200" dirty="0" err="1">
                <a:solidFill>
                  <a:srgbClr val="242424"/>
                </a:solidFill>
                <a:latin typeface="Calibri" panose="020F0502020204030204" pitchFamily="34" charset="0"/>
              </a:rPr>
              <a:t>vdb</a:t>
            </a:r>
            <a:r>
              <a:rPr lang="en-SG" sz="1200" dirty="0">
                <a:solidFill>
                  <a:srgbClr val="242424"/>
                </a:solidFill>
                <a:latin typeface="Calibri" panose="020F0502020204030204" pitchFamily="34" charset="0"/>
              </a:rPr>
              <a:t> with 100 GB</a:t>
            </a:r>
          </a:p>
          <a:p>
            <a:r>
              <a:rPr lang="en-SG" sz="1200" dirty="0">
                <a:solidFill>
                  <a:srgbClr val="242424"/>
                </a:solidFill>
                <a:latin typeface="Calibri" panose="020F0502020204030204" pitchFamily="34" charset="0"/>
              </a:rPr>
              <a:t>In worker nodes, allocate file system vdc with 150 GB</a:t>
            </a:r>
          </a:p>
          <a:p>
            <a:r>
              <a:rPr lang="en-GB" sz="1200" dirty="0" err="1">
                <a:solidFill>
                  <a:srgbClr val="242424"/>
                </a:solidFill>
                <a:latin typeface="Calibri" panose="020F0502020204030204" pitchFamily="34" charset="0"/>
              </a:rPr>
              <a:t>SELinux</a:t>
            </a:r>
            <a:r>
              <a:rPr lang="en-GB" sz="1200" dirty="0">
                <a:solidFill>
                  <a:srgbClr val="242424"/>
                </a:solidFill>
                <a:latin typeface="Calibri" panose="020F0502020204030204" pitchFamily="34" charset="0"/>
              </a:rPr>
              <a:t> - keep disabled on all VMs</a:t>
            </a:r>
          </a:p>
          <a:p>
            <a:endParaRPr lang="en-US" sz="1200" dirty="0">
              <a:solidFill>
                <a:srgbClr val="242424"/>
              </a:solidFill>
              <a:latin typeface="Calibri" panose="020F0502020204030204" pitchFamily="34" charset="0"/>
            </a:endParaRPr>
          </a:p>
          <a:p>
            <a:r>
              <a:rPr lang="en-US" sz="1200" dirty="0">
                <a:solidFill>
                  <a:srgbClr val="242424"/>
                </a:solidFill>
                <a:latin typeface="Calibri" panose="020F0502020204030204" pitchFamily="34" charset="0"/>
              </a:rPr>
              <a:t>Verify the file system</a:t>
            </a:r>
          </a:p>
          <a:p>
            <a:pPr algn="l"/>
            <a:r>
              <a:rPr lang="en-SG" sz="1800" b="0" i="1" dirty="0">
                <a:solidFill>
                  <a:srgbClr val="242424"/>
                </a:solidFill>
                <a:effectLst/>
                <a:latin typeface="Calibri" panose="020F0502020204030204" pitchFamily="34" charset="0"/>
              </a:rPr>
              <a:t>[</a:t>
            </a:r>
            <a:r>
              <a:rPr lang="en-SG" sz="1800" b="0" i="1" dirty="0" err="1">
                <a:solidFill>
                  <a:srgbClr val="242424"/>
                </a:solidFill>
                <a:effectLst/>
                <a:latin typeface="Calibri" panose="020F0502020204030204" pitchFamily="34" charset="0"/>
              </a:rPr>
              <a:t>muleusr</a:t>
            </a:r>
            <a:r>
              <a:rPr lang="en-SG" sz="1800" b="0" i="1" dirty="0">
                <a:solidFill>
                  <a:srgbClr val="242424"/>
                </a:solidFill>
                <a:effectLst/>
                <a:latin typeface="Calibri" panose="020F0502020204030204" pitchFamily="34" charset="0"/>
              </a:rPr>
              <a:t>@</a:t>
            </a:r>
            <a:r>
              <a:rPr lang="it-IT" i="1" dirty="0"/>
              <a:t>hostname01 </a:t>
            </a:r>
            <a:r>
              <a:rPr lang="en-SG" sz="1800" b="0" i="1" dirty="0">
                <a:solidFill>
                  <a:srgbClr val="242424"/>
                </a:solidFill>
                <a:effectLst/>
                <a:latin typeface="Calibri" panose="020F0502020204030204" pitchFamily="34" charset="0"/>
              </a:rPr>
              <a:t>:~]$ </a:t>
            </a:r>
            <a:r>
              <a:rPr lang="en-SG" sz="1800" b="0" i="1" dirty="0" err="1">
                <a:solidFill>
                  <a:srgbClr val="242424"/>
                </a:solidFill>
                <a:effectLst/>
                <a:latin typeface="Calibri" panose="020F0502020204030204" pitchFamily="34" charset="0"/>
              </a:rPr>
              <a:t>lsblk</a:t>
            </a:r>
            <a:r>
              <a:rPr lang="en-SG" sz="1800" b="0" i="1" dirty="0">
                <a:solidFill>
                  <a:srgbClr val="242424"/>
                </a:solidFill>
                <a:effectLst/>
                <a:latin typeface="Calibri" panose="020F0502020204030204" pitchFamily="34" charset="0"/>
              </a:rPr>
              <a:t> -a</a:t>
            </a:r>
          </a:p>
          <a:p>
            <a:pPr algn="l"/>
            <a:r>
              <a:rPr lang="en-SG" sz="1800" b="0" i="1" dirty="0">
                <a:solidFill>
                  <a:srgbClr val="242424"/>
                </a:solidFill>
                <a:effectLst/>
                <a:latin typeface="Calibri" panose="020F0502020204030204" pitchFamily="34" charset="0"/>
              </a:rPr>
              <a:t>NAME   MAJ:MIN RM   SIZE RO TYPE MOUNTPOINT</a:t>
            </a:r>
          </a:p>
          <a:p>
            <a:pPr algn="l"/>
            <a:r>
              <a:rPr lang="en-SG" sz="1800" b="0" i="1" dirty="0" err="1">
                <a:solidFill>
                  <a:srgbClr val="242424"/>
                </a:solidFill>
                <a:effectLst/>
                <a:latin typeface="Calibri" panose="020F0502020204030204" pitchFamily="34" charset="0"/>
              </a:rPr>
              <a:t>vdb</a:t>
            </a:r>
            <a:r>
              <a:rPr lang="en-SG" sz="1800" b="0" i="1" dirty="0">
                <a:solidFill>
                  <a:srgbClr val="242424"/>
                </a:solidFill>
                <a:effectLst/>
                <a:latin typeface="Calibri" panose="020F0502020204030204" pitchFamily="34" charset="0"/>
              </a:rPr>
              <a:t>    252:16   0   100G  0 disk /var/lib/gravity/planet/</a:t>
            </a:r>
            <a:r>
              <a:rPr lang="en-SG" sz="1800" b="0" i="1" dirty="0" err="1">
                <a:solidFill>
                  <a:srgbClr val="242424"/>
                </a:solidFill>
                <a:effectLst/>
                <a:latin typeface="Calibri" panose="020F0502020204030204" pitchFamily="34" charset="0"/>
              </a:rPr>
              <a:t>etcd</a:t>
            </a:r>
            <a:endParaRPr lang="en-SG" sz="1800" b="0" i="1" dirty="0">
              <a:solidFill>
                <a:srgbClr val="242424"/>
              </a:solidFill>
              <a:effectLst/>
              <a:latin typeface="Calibri" panose="020F0502020204030204" pitchFamily="34" charset="0"/>
            </a:endParaRPr>
          </a:p>
          <a:p>
            <a:pPr algn="l"/>
            <a:r>
              <a:rPr lang="en-SG" sz="1800" b="0" i="1" dirty="0">
                <a:solidFill>
                  <a:srgbClr val="242424"/>
                </a:solidFill>
                <a:effectLst/>
                <a:latin typeface="Calibri" panose="020F0502020204030204" pitchFamily="34" charset="0"/>
              </a:rPr>
              <a:t>vdc    252:32   0   250G  0 disk /var/lib/gravity</a:t>
            </a:r>
          </a:p>
          <a:p>
            <a:endParaRPr lang="en-US" sz="1200" dirty="0"/>
          </a:p>
          <a:p>
            <a:pPr marL="342900" indent="-342900">
              <a:buAutoNum type="arabicPeriod"/>
            </a:pPr>
            <a:r>
              <a:rPr lang="en-US" sz="2400" dirty="0"/>
              <a:t>Create the directory /opt/</a:t>
            </a:r>
            <a:r>
              <a:rPr lang="en-US" sz="2400" dirty="0" err="1"/>
              <a:t>anypoint</a:t>
            </a:r>
            <a:r>
              <a:rPr lang="en-US" sz="2400" dirty="0"/>
              <a:t>/</a:t>
            </a:r>
            <a:r>
              <a:rPr lang="en-US" sz="2400" dirty="0" err="1"/>
              <a:t>runtimefabric</a:t>
            </a:r>
            <a:endParaRPr lang="en-US" sz="2400" dirty="0"/>
          </a:p>
          <a:p>
            <a:pPr marL="342900" indent="-342900">
              <a:buAutoNum type="arabicPeriod"/>
            </a:pPr>
            <a:r>
              <a:rPr lang="en-US" sz="2400" dirty="0"/>
              <a:t>Identify the number of controllers and workers which are required. Create a required VM and get the IP address.</a:t>
            </a:r>
          </a:p>
          <a:p>
            <a:pPr marL="342900" indent="-342900">
              <a:buAutoNum type="arabicPeriod"/>
            </a:pPr>
            <a:r>
              <a:rPr lang="en-GB" sz="2400" dirty="0"/>
              <a:t>Login into VM where we want to install the controller nodes using your user.</a:t>
            </a:r>
          </a:p>
          <a:p>
            <a:pPr marL="342900" indent="-342900">
              <a:buAutoNum type="arabicPeriod"/>
            </a:pPr>
            <a:r>
              <a:rPr lang="en-GB" sz="2400" dirty="0"/>
              <a:t>Create the folder “setup” in /home/</a:t>
            </a:r>
            <a:r>
              <a:rPr lang="en-GB" sz="2400" dirty="0" err="1"/>
              <a:t>muleusr</a:t>
            </a:r>
            <a:r>
              <a:rPr lang="en-GB" sz="2400" dirty="0"/>
              <a:t> where we need to copy the files which are required for installation.</a:t>
            </a:r>
          </a:p>
          <a:p>
            <a:pPr marL="342900" indent="-342900">
              <a:buAutoNum type="arabicPeriod"/>
            </a:pPr>
            <a:r>
              <a:rPr lang="en-GB" sz="2400" dirty="0"/>
              <a:t>Copy the init.sh and generate-configs.sh  to /home/</a:t>
            </a:r>
            <a:r>
              <a:rPr lang="en-GB" sz="2400" dirty="0" err="1"/>
              <a:t>muleusr</a:t>
            </a:r>
            <a:r>
              <a:rPr lang="en-GB" sz="2400" dirty="0"/>
              <a:t>/setup</a:t>
            </a:r>
          </a:p>
          <a:p>
            <a:pPr marL="800100" lvl="1" indent="-342900">
              <a:buAutoNum type="arabicPeriod"/>
            </a:pPr>
            <a:endParaRPr lang="en-US" dirty="0"/>
          </a:p>
        </p:txBody>
      </p:sp>
    </p:spTree>
    <p:extLst>
      <p:ext uri="{BB962C8B-B14F-4D97-AF65-F5344CB8AC3E}">
        <p14:creationId xmlns:p14="http://schemas.microsoft.com/office/powerpoint/2010/main" val="475581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11A1138-D332-61ED-5D84-7A99876D147A}"/>
              </a:ext>
            </a:extLst>
          </p:cNvPr>
          <p:cNvSpPr txBox="1"/>
          <p:nvPr/>
        </p:nvSpPr>
        <p:spPr>
          <a:xfrm>
            <a:off x="180109" y="217115"/>
            <a:ext cx="11277600" cy="6740307"/>
          </a:xfrm>
          <a:prstGeom prst="rect">
            <a:avLst/>
          </a:prstGeom>
          <a:noFill/>
        </p:spPr>
        <p:txBody>
          <a:bodyPr wrap="square">
            <a:spAutoFit/>
          </a:bodyPr>
          <a:lstStyle/>
          <a:p>
            <a:r>
              <a:rPr lang="en-US" b="1" u="sng" dirty="0"/>
              <a:t>generate config.sh </a:t>
            </a:r>
          </a:p>
          <a:p>
            <a:pPr marL="800100" lvl="1" indent="-342900">
              <a:buAutoNum type="arabicPeriod"/>
            </a:pPr>
            <a:r>
              <a:rPr lang="en-US" sz="1400" dirty="0"/>
              <a:t>Modify the generate-config.sh to generate the config. </a:t>
            </a:r>
          </a:p>
          <a:p>
            <a:pPr marL="1085850" lvl="2" indent="-171450">
              <a:buFont typeface="Arial" panose="020B0604020202020204" pitchFamily="34" charset="0"/>
              <a:buChar char="•"/>
            </a:pPr>
            <a:r>
              <a:rPr lang="en-US" sz="1400" dirty="0"/>
              <a:t> In the below config (</a:t>
            </a:r>
            <a:r>
              <a:rPr lang="en-SG" sz="1400" dirty="0"/>
              <a:t>RTF_CONTROLLER_IPS)</a:t>
            </a:r>
            <a:r>
              <a:rPr lang="en-US" sz="1400" dirty="0"/>
              <a:t>, we are using 3 controller nodes (CIP1, CIP2, CIP3). Replace this with actual IP address</a:t>
            </a:r>
          </a:p>
          <a:p>
            <a:pPr marL="1085850" lvl="2" indent="-171450">
              <a:buFont typeface="Arial" panose="020B0604020202020204" pitchFamily="34" charset="0"/>
              <a:buChar char="•"/>
            </a:pPr>
            <a:r>
              <a:rPr lang="en-SG" sz="1400" dirty="0"/>
              <a:t> RTF_WORKER_IPS , </a:t>
            </a:r>
            <a:r>
              <a:rPr lang="en-US" sz="1400" dirty="0"/>
              <a:t>We are using 3 worker nodes. Give actual the IP address with space instead of WIP1 WIP2 WIP3.</a:t>
            </a:r>
          </a:p>
          <a:p>
            <a:pPr marL="1143000" lvl="2" indent="-228600">
              <a:buFont typeface="Arial" panose="020B0604020202020204" pitchFamily="34" charset="0"/>
              <a:buChar char="•"/>
            </a:pPr>
            <a:r>
              <a:rPr lang="en-SG" sz="1400" dirty="0"/>
              <a:t>RTF_ACTIVATION_DATA, fill the activation data copied while registering runtime fabric from </a:t>
            </a:r>
            <a:r>
              <a:rPr lang="en-SG" sz="1400" dirty="0" err="1"/>
              <a:t>Anypoint</a:t>
            </a:r>
            <a:r>
              <a:rPr lang="en-SG" sz="1400" dirty="0"/>
              <a:t> platform</a:t>
            </a:r>
          </a:p>
          <a:p>
            <a:pPr marL="1143000" lvl="2" indent="-228600">
              <a:buFont typeface="Arial" panose="020B0604020202020204" pitchFamily="34" charset="0"/>
              <a:buChar char="•"/>
            </a:pPr>
            <a:r>
              <a:rPr lang="en-SG" sz="1400" b="0" i="0" dirty="0">
                <a:solidFill>
                  <a:srgbClr val="242424"/>
                </a:solidFill>
                <a:effectLst/>
                <a:latin typeface="Calibri" panose="020F0502020204030204" pitchFamily="34" charset="0"/>
              </a:rPr>
              <a:t>RTF_HTTP_PROXY – fill your organization proxy server details</a:t>
            </a:r>
          </a:p>
          <a:p>
            <a:pPr marL="1143000" lvl="2" indent="-228600">
              <a:buFont typeface="Arial" panose="020B0604020202020204" pitchFamily="34" charset="0"/>
              <a:buChar char="•"/>
            </a:pPr>
            <a:r>
              <a:rPr lang="en-SG" sz="1400" dirty="0">
                <a:solidFill>
                  <a:srgbClr val="242424"/>
                </a:solidFill>
                <a:latin typeface="Calibri" panose="020F0502020204030204" pitchFamily="34" charset="0"/>
              </a:rPr>
              <a:t>Fill the docker device and </a:t>
            </a:r>
            <a:r>
              <a:rPr lang="en-SG" sz="1400" dirty="0" err="1">
                <a:solidFill>
                  <a:srgbClr val="242424"/>
                </a:solidFill>
                <a:latin typeface="Calibri" panose="020F0502020204030204" pitchFamily="34" charset="0"/>
              </a:rPr>
              <a:t>etcd</a:t>
            </a:r>
            <a:r>
              <a:rPr lang="en-SG" sz="1400" dirty="0">
                <a:solidFill>
                  <a:srgbClr val="242424"/>
                </a:solidFill>
                <a:latin typeface="Calibri" panose="020F0502020204030204" pitchFamily="34" charset="0"/>
              </a:rPr>
              <a:t> device location</a:t>
            </a:r>
          </a:p>
          <a:p>
            <a:pPr marL="1143000" lvl="2" indent="-228600">
              <a:buFont typeface="Arial" panose="020B0604020202020204" pitchFamily="34" charset="0"/>
              <a:buChar char="•"/>
            </a:pPr>
            <a:r>
              <a:rPr lang="en-SG" sz="1400" dirty="0">
                <a:solidFill>
                  <a:srgbClr val="242424"/>
                </a:solidFill>
                <a:latin typeface="Calibri" panose="020F0502020204030204" pitchFamily="34" charset="0"/>
              </a:rPr>
              <a:t>Fill the license details </a:t>
            </a:r>
          </a:p>
          <a:p>
            <a:pPr marL="1143000" lvl="2" indent="-228600">
              <a:buFont typeface="Arial" panose="020B0604020202020204" pitchFamily="34" charset="0"/>
              <a:buChar char="•"/>
            </a:pPr>
            <a:r>
              <a:rPr lang="en-SG" sz="1400" dirty="0">
                <a:solidFill>
                  <a:srgbClr val="242424"/>
                </a:solidFill>
                <a:latin typeface="Calibri" panose="020F0502020204030204" pitchFamily="34" charset="0"/>
              </a:rPr>
              <a:t>Fill network CIDR and service CIDR range details.</a:t>
            </a:r>
          </a:p>
          <a:p>
            <a:pPr lvl="1"/>
            <a:endParaRPr lang="en-SG" sz="1400" dirty="0"/>
          </a:p>
          <a:p>
            <a:pPr lvl="2"/>
            <a:r>
              <a:rPr lang="en-SG" sz="1400" b="0" i="1" dirty="0">
                <a:solidFill>
                  <a:srgbClr val="242424"/>
                </a:solidFill>
                <a:effectLst/>
                <a:latin typeface="Calibri" panose="020F0502020204030204" pitchFamily="34" charset="0"/>
              </a:rPr>
              <a:t>RTF_CONTROLLER_IPS=‘CIP1 CIP2 CIP3'</a:t>
            </a:r>
          </a:p>
          <a:p>
            <a:pPr lvl="2"/>
            <a:r>
              <a:rPr lang="en-SG" sz="1400" b="0" i="1" dirty="0">
                <a:solidFill>
                  <a:srgbClr val="242424"/>
                </a:solidFill>
                <a:effectLst/>
                <a:latin typeface="Calibri" panose="020F0502020204030204" pitchFamily="34" charset="0"/>
              </a:rPr>
              <a:t>RTF_WORKER_IPS=‘WIP1 WIP2 WIP3'</a:t>
            </a:r>
          </a:p>
          <a:p>
            <a:pPr lvl="2"/>
            <a:r>
              <a:rPr lang="en-SG" sz="1400" b="0" i="1" dirty="0">
                <a:solidFill>
                  <a:srgbClr val="242424"/>
                </a:solidFill>
                <a:effectLst/>
                <a:latin typeface="Calibri" panose="020F0502020204030204" pitchFamily="34" charset="0"/>
              </a:rPr>
              <a:t>RTF_ACTIVATION_DATA=‘</a:t>
            </a:r>
            <a:r>
              <a:rPr lang="en-SG" sz="1400" b="0" i="1" dirty="0" err="1">
                <a:solidFill>
                  <a:srgbClr val="242424"/>
                </a:solidFill>
                <a:effectLst/>
                <a:latin typeface="Calibri" panose="020F0502020204030204" pitchFamily="34" charset="0"/>
              </a:rPr>
              <a:t>ABCdddddddddddddhhhhhhhhhhhttttttWWWsssssddddddddggggggeeeeBc</a:t>
            </a:r>
            <a:r>
              <a:rPr lang="en-SG" sz="1400" b="0" i="1" dirty="0">
                <a:solidFill>
                  <a:srgbClr val="242424"/>
                </a:solidFill>
                <a:effectLst/>
                <a:latin typeface="Calibri" panose="020F0502020204030204" pitchFamily="34" charset="0"/>
              </a:rPr>
              <a:t>=='</a:t>
            </a:r>
          </a:p>
          <a:p>
            <a:pPr lvl="2"/>
            <a:r>
              <a:rPr lang="en-SG" sz="1400" b="0" i="1" dirty="0">
                <a:solidFill>
                  <a:srgbClr val="242424"/>
                </a:solidFill>
                <a:effectLst/>
                <a:latin typeface="Calibri" panose="020F0502020204030204" pitchFamily="34" charset="0"/>
              </a:rPr>
              <a:t>RTF_HTTP_PROXY='</a:t>
            </a:r>
            <a:r>
              <a:rPr lang="en-SG" sz="1400" b="0" i="1" dirty="0">
                <a:solidFill>
                  <a:srgbClr val="242424"/>
                </a:solidFill>
                <a:effectLst/>
                <a:latin typeface="Calibri" panose="020F0502020204030204" pitchFamily="34" charset="0"/>
                <a:hlinkClick r:id="rId2"/>
              </a:rPr>
              <a:t>http://proxyhostname:9480</a:t>
            </a:r>
            <a:r>
              <a:rPr lang="en-SG" sz="1400" b="0" i="1" dirty="0">
                <a:solidFill>
                  <a:srgbClr val="242424"/>
                </a:solidFill>
                <a:effectLst/>
                <a:latin typeface="Calibri" panose="020F0502020204030204" pitchFamily="34" charset="0"/>
              </a:rPr>
              <a:t>'</a:t>
            </a:r>
          </a:p>
          <a:p>
            <a:pPr lvl="2"/>
            <a:r>
              <a:rPr lang="en-SG" sz="1400" b="0" i="1" dirty="0">
                <a:solidFill>
                  <a:srgbClr val="242424"/>
                </a:solidFill>
                <a:effectLst/>
                <a:latin typeface="Calibri" panose="020F0502020204030204" pitchFamily="34" charset="0"/>
              </a:rPr>
              <a:t>RTF_DOCKER_DEVICE=‘/prod/vdc'</a:t>
            </a:r>
          </a:p>
          <a:p>
            <a:pPr lvl="2"/>
            <a:r>
              <a:rPr lang="en-SG" sz="1400" b="0" i="1" dirty="0">
                <a:solidFill>
                  <a:srgbClr val="242424"/>
                </a:solidFill>
                <a:effectLst/>
                <a:latin typeface="Calibri" panose="020F0502020204030204" pitchFamily="34" charset="0"/>
              </a:rPr>
              <a:t>RTF_ETCD_DEVICE=‘/prod/</a:t>
            </a:r>
            <a:r>
              <a:rPr lang="en-SG" sz="1400" b="0" i="1" dirty="0" err="1">
                <a:solidFill>
                  <a:srgbClr val="242424"/>
                </a:solidFill>
                <a:effectLst/>
                <a:latin typeface="Calibri" panose="020F0502020204030204" pitchFamily="34" charset="0"/>
              </a:rPr>
              <a:t>vdb</a:t>
            </a:r>
            <a:r>
              <a:rPr lang="en-SG" sz="1400" b="0" i="1" dirty="0">
                <a:solidFill>
                  <a:srgbClr val="242424"/>
                </a:solidFill>
                <a:effectLst/>
                <a:latin typeface="Calibri" panose="020F0502020204030204" pitchFamily="34" charset="0"/>
              </a:rPr>
              <a:t>'</a:t>
            </a:r>
          </a:p>
          <a:p>
            <a:pPr lvl="2"/>
            <a:r>
              <a:rPr lang="en-SG" sz="1400" b="0" i="1" dirty="0">
                <a:solidFill>
                  <a:srgbClr val="242424"/>
                </a:solidFill>
                <a:effectLst/>
                <a:latin typeface="Calibri" panose="020F0502020204030204" pitchFamily="34" charset="0"/>
              </a:rPr>
              <a:t>RTF_MULE_LICENSE=‘fill the mule license data here'</a:t>
            </a:r>
          </a:p>
          <a:p>
            <a:pPr lvl="2"/>
            <a:r>
              <a:rPr lang="en-SG" sz="1400" b="0" i="1" dirty="0">
                <a:solidFill>
                  <a:srgbClr val="242424"/>
                </a:solidFill>
                <a:effectLst/>
                <a:latin typeface="Calibri" panose="020F0502020204030204" pitchFamily="34" charset="0"/>
              </a:rPr>
              <a:t>POD_NETWORK_CIDR=‘192.151.0.0/18'</a:t>
            </a:r>
          </a:p>
          <a:p>
            <a:pPr lvl="2"/>
            <a:r>
              <a:rPr lang="en-SG" sz="1400" b="0" i="1" dirty="0">
                <a:solidFill>
                  <a:srgbClr val="242424"/>
                </a:solidFill>
                <a:effectLst/>
                <a:latin typeface="Calibri" panose="020F0502020204030204" pitchFamily="34" charset="0"/>
              </a:rPr>
              <a:t>SERVICE_CIDR=‘192.152.0.0/18'</a:t>
            </a:r>
            <a:endParaRPr lang="en-US" sz="2800" b="1" i="1" u="sng" dirty="0"/>
          </a:p>
          <a:p>
            <a:endParaRPr lang="en-US" b="1" u="sng" dirty="0"/>
          </a:p>
          <a:p>
            <a:pPr marL="342900" indent="-342900">
              <a:buAutoNum type="arabicPeriod"/>
            </a:pPr>
            <a:r>
              <a:rPr lang="en-US" dirty="0"/>
              <a:t>Once the file is modified with the required details, change the permission to execute permission by running following command</a:t>
            </a:r>
          </a:p>
          <a:p>
            <a:r>
              <a:rPr lang="it-IT" i="1" dirty="0"/>
              <a:t>[muleusr@hostname01:~/setup]$ sudo chmod +x ./generate-configs.sh</a:t>
            </a:r>
          </a:p>
          <a:p>
            <a:endParaRPr lang="it-IT" i="1" dirty="0"/>
          </a:p>
          <a:p>
            <a:r>
              <a:rPr lang="it-IT" i="1" dirty="0"/>
              <a:t>2.  Execute the following command to generate the required configs.</a:t>
            </a:r>
          </a:p>
          <a:p>
            <a:r>
              <a:rPr lang="it-IT" i="1" dirty="0"/>
              <a:t>[muleusr@hostname01:~/setup]$ sudo ./generate-configs.sh</a:t>
            </a:r>
          </a:p>
          <a:p>
            <a:endParaRPr lang="it-IT" dirty="0"/>
          </a:p>
          <a:p>
            <a:r>
              <a:rPr lang="it-IT" b="1" u="sng" dirty="0"/>
              <a:t>Note</a:t>
            </a:r>
            <a:r>
              <a:rPr lang="it-IT" dirty="0"/>
              <a:t>: In the above &lt;muleusr&gt; login user.</a:t>
            </a:r>
            <a:endParaRPr lang="en-US" dirty="0"/>
          </a:p>
        </p:txBody>
      </p:sp>
    </p:spTree>
    <p:extLst>
      <p:ext uri="{BB962C8B-B14F-4D97-AF65-F5344CB8AC3E}">
        <p14:creationId xmlns:p14="http://schemas.microsoft.com/office/powerpoint/2010/main" val="6200008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2C17275-C4BD-9B56-3259-A2C61E3BB6F8}"/>
              </a:ext>
            </a:extLst>
          </p:cNvPr>
          <p:cNvSpPr txBox="1"/>
          <p:nvPr/>
        </p:nvSpPr>
        <p:spPr>
          <a:xfrm>
            <a:off x="-235249" y="166335"/>
            <a:ext cx="12263126" cy="5909310"/>
          </a:xfrm>
          <a:prstGeom prst="rect">
            <a:avLst/>
          </a:prstGeom>
          <a:noFill/>
        </p:spPr>
        <p:txBody>
          <a:bodyPr wrap="square">
            <a:spAutoFit/>
          </a:bodyPr>
          <a:lstStyle/>
          <a:p>
            <a:pPr marL="800100" lvl="1" indent="-342900">
              <a:buAutoNum type="arabicPeriod"/>
            </a:pPr>
            <a:r>
              <a:rPr lang="en-US" dirty="0"/>
              <a:t>Copy the config generated config and execute the cat command in individual controller nodes and worker nodes. Based on IP details which generated, executed that specific entry in appropriate servers. The below is sample is for leader node of controller. As we gave this IP in the first position of controller nodes, it is considered as leader in controller nodes.</a:t>
            </a:r>
          </a:p>
          <a:p>
            <a:pPr marL="800100" lvl="1" indent="-342900">
              <a:buAutoNum type="arabicPeriod"/>
            </a:pPr>
            <a:endParaRPr lang="en-US" dirty="0"/>
          </a:p>
          <a:p>
            <a:pPr lvl="2"/>
            <a:r>
              <a:rPr lang="en-US" sz="1200" i="1" dirty="0"/>
              <a:t>cat &gt; /opt/</a:t>
            </a:r>
            <a:r>
              <a:rPr lang="en-US" sz="1200" i="1" dirty="0" err="1"/>
              <a:t>anypoint</a:t>
            </a:r>
            <a:r>
              <a:rPr lang="en-US" sz="1200" i="1" dirty="0"/>
              <a:t>/</a:t>
            </a:r>
            <a:r>
              <a:rPr lang="en-US" sz="1200" i="1" dirty="0" err="1"/>
              <a:t>runtimefabric</a:t>
            </a:r>
            <a:r>
              <a:rPr lang="en-US" sz="1200" i="1" dirty="0"/>
              <a:t>/env &lt;&lt;EOF</a:t>
            </a:r>
          </a:p>
          <a:p>
            <a:pPr lvl="2"/>
            <a:r>
              <a:rPr lang="en-US" sz="1200" i="1" dirty="0"/>
              <a:t> RTF_PRIVATE_IP=CIP1</a:t>
            </a:r>
          </a:p>
          <a:p>
            <a:pPr lvl="2"/>
            <a:r>
              <a:rPr lang="en-US" sz="1200" i="1" dirty="0"/>
              <a:t> RTF_NODE_ROLE=</a:t>
            </a:r>
            <a:r>
              <a:rPr lang="en-US" sz="1200" i="1" dirty="0" err="1"/>
              <a:t>controller_node</a:t>
            </a:r>
            <a:endParaRPr lang="en-US" sz="1200" i="1" dirty="0"/>
          </a:p>
          <a:p>
            <a:pPr lvl="2"/>
            <a:r>
              <a:rPr lang="en-US" sz="1200" i="1" dirty="0"/>
              <a:t> RTF_INSTALL_ROLE=leader</a:t>
            </a:r>
          </a:p>
          <a:p>
            <a:pPr lvl="2"/>
            <a:r>
              <a:rPr lang="en-US" sz="1200" i="1" dirty="0"/>
              <a:t> RTF_INSTALL_PACKAGE_URL='https://runtime-fabric.s3.amazonaws.com/installer/runtime-fabric-2.0.1661808686-2ff0e92.tar.gz'</a:t>
            </a:r>
          </a:p>
          <a:p>
            <a:pPr lvl="2"/>
            <a:r>
              <a:rPr lang="en-US" sz="1200" i="1" dirty="0"/>
              <a:t> RTF_ETCD_DEVICE=/prod/</a:t>
            </a:r>
            <a:r>
              <a:rPr lang="en-US" sz="1200" i="1" dirty="0" err="1"/>
              <a:t>vdb</a:t>
            </a:r>
            <a:endParaRPr lang="en-US" sz="1200" i="1" dirty="0"/>
          </a:p>
          <a:p>
            <a:pPr lvl="2"/>
            <a:r>
              <a:rPr lang="en-US" sz="1200" i="1" dirty="0"/>
              <a:t> RTF_DOCKER_DEVICE=/prod/vdc</a:t>
            </a:r>
          </a:p>
          <a:p>
            <a:pPr lvl="2"/>
            <a:r>
              <a:rPr lang="en-US" sz="1200" i="1" dirty="0"/>
              <a:t> RTF_TOKEN='my-cluster-token'</a:t>
            </a:r>
          </a:p>
          <a:p>
            <a:pPr lvl="2"/>
            <a:r>
              <a:rPr lang="en-US" sz="1200" i="1" dirty="0"/>
              <a:t> RTF_NAME='runtime-fabric'</a:t>
            </a:r>
          </a:p>
          <a:p>
            <a:pPr lvl="2"/>
            <a:r>
              <a:rPr lang="en-US" sz="1200" i="1" dirty="0"/>
              <a:t> RTF_ACTIVATION_DATA='</a:t>
            </a:r>
            <a:r>
              <a:rPr lang="en-SG" sz="1200" b="0" i="1" dirty="0" err="1">
                <a:solidFill>
                  <a:srgbClr val="242424"/>
                </a:solidFill>
                <a:effectLst/>
                <a:latin typeface="Calibri" panose="020F0502020204030204" pitchFamily="34" charset="0"/>
              </a:rPr>
              <a:t>ABCdddddddddddddhhhhhhhhhhhttttttWWWsssssddddddddggggggeeeeBc</a:t>
            </a:r>
            <a:r>
              <a:rPr lang="en-SG" sz="1200" b="0" i="1" dirty="0">
                <a:solidFill>
                  <a:srgbClr val="242424"/>
                </a:solidFill>
                <a:effectLst/>
                <a:latin typeface="Calibri" panose="020F0502020204030204" pitchFamily="34" charset="0"/>
              </a:rPr>
              <a:t>==</a:t>
            </a:r>
            <a:r>
              <a:rPr lang="en-US" sz="1200" i="1" dirty="0"/>
              <a:t>'</a:t>
            </a:r>
          </a:p>
          <a:p>
            <a:pPr lvl="2"/>
            <a:r>
              <a:rPr lang="en-US" sz="1200" i="1" dirty="0"/>
              <a:t> RTF_MULE_LICENSE=</a:t>
            </a:r>
            <a:r>
              <a:rPr lang="en-SG" sz="1200" b="0" i="1" dirty="0">
                <a:solidFill>
                  <a:srgbClr val="242424"/>
                </a:solidFill>
                <a:effectLst/>
                <a:latin typeface="Calibri" panose="020F0502020204030204" pitchFamily="34" charset="0"/>
              </a:rPr>
              <a:t> ‘fill the mule license data here</a:t>
            </a:r>
            <a:r>
              <a:rPr lang="en-US" sz="1200" i="1" dirty="0"/>
              <a:t>'</a:t>
            </a:r>
          </a:p>
          <a:p>
            <a:pPr lvl="2"/>
            <a:r>
              <a:rPr lang="en-US" sz="1200" i="1" dirty="0"/>
              <a:t> RTF_HTTP_PROXY='http://proxy:9480'</a:t>
            </a:r>
          </a:p>
          <a:p>
            <a:pPr lvl="2"/>
            <a:r>
              <a:rPr lang="en-US" sz="1200" i="1" dirty="0"/>
              <a:t> RTF_NO_PROXY=''</a:t>
            </a:r>
          </a:p>
          <a:p>
            <a:pPr lvl="2"/>
            <a:r>
              <a:rPr lang="en-US" sz="1200" i="1" dirty="0"/>
              <a:t> RTF_MONITORING_PROXY=''</a:t>
            </a:r>
          </a:p>
          <a:p>
            <a:pPr lvl="2"/>
            <a:r>
              <a:rPr lang="en-US" sz="1200" i="1" dirty="0"/>
              <a:t> RTF_SERVICE_UID=''</a:t>
            </a:r>
          </a:p>
          <a:p>
            <a:pPr lvl="2"/>
            <a:r>
              <a:rPr lang="en-US" sz="1200" i="1" dirty="0"/>
              <a:t> RTF_SERVICE_GID=''</a:t>
            </a:r>
          </a:p>
          <a:p>
            <a:pPr lvl="2"/>
            <a:r>
              <a:rPr lang="en-US" sz="1200" i="1" dirty="0"/>
              <a:t>POD_NETWORK_CIDR=‘192.151.0.0/18'</a:t>
            </a:r>
          </a:p>
          <a:p>
            <a:pPr lvl="2"/>
            <a:r>
              <a:rPr lang="en-US" sz="1200" i="1" dirty="0"/>
              <a:t>SERVICE_CIDR=‘192.152.0.0/18'</a:t>
            </a:r>
          </a:p>
          <a:p>
            <a:pPr lvl="2"/>
            <a:r>
              <a:rPr lang="en-US" sz="1200" i="1" dirty="0"/>
              <a:t>EOF</a:t>
            </a:r>
          </a:p>
          <a:p>
            <a:pPr lvl="1"/>
            <a:endParaRPr lang="en-US" sz="800" dirty="0"/>
          </a:p>
          <a:p>
            <a:pPr lvl="1"/>
            <a:endParaRPr lang="en-US" sz="800" dirty="0"/>
          </a:p>
          <a:p>
            <a:pPr lvl="1"/>
            <a:endParaRPr lang="en-US" sz="800" dirty="0"/>
          </a:p>
          <a:p>
            <a:pPr lvl="1"/>
            <a:r>
              <a:rPr lang="en-US" dirty="0"/>
              <a:t>2. Once the above command executed, file with “env” is created in that folder.</a:t>
            </a:r>
          </a:p>
          <a:p>
            <a:pPr lvl="1"/>
            <a:r>
              <a:rPr lang="en-US" dirty="0"/>
              <a:t>3. Once leader node is successful, proceed to execute the cat command for that server in appropriate controller nodes.</a:t>
            </a:r>
          </a:p>
          <a:p>
            <a:pPr lvl="1"/>
            <a:r>
              <a:rPr lang="en-US" dirty="0"/>
              <a:t>4. Once controller nodes are complete, execute the same thing in worker node.</a:t>
            </a:r>
          </a:p>
        </p:txBody>
      </p:sp>
    </p:spTree>
    <p:extLst>
      <p:ext uri="{BB962C8B-B14F-4D97-AF65-F5344CB8AC3E}">
        <p14:creationId xmlns:p14="http://schemas.microsoft.com/office/powerpoint/2010/main" val="25645416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7ECDA7A-68CD-877C-E55F-6A435F6B3951}"/>
              </a:ext>
            </a:extLst>
          </p:cNvPr>
          <p:cNvSpPr txBox="1"/>
          <p:nvPr/>
        </p:nvSpPr>
        <p:spPr>
          <a:xfrm>
            <a:off x="0" y="289679"/>
            <a:ext cx="11549974" cy="4247317"/>
          </a:xfrm>
          <a:prstGeom prst="rect">
            <a:avLst/>
          </a:prstGeom>
          <a:noFill/>
        </p:spPr>
        <p:txBody>
          <a:bodyPr wrap="square">
            <a:spAutoFit/>
          </a:bodyPr>
          <a:lstStyle/>
          <a:p>
            <a:pPr lvl="1"/>
            <a:r>
              <a:rPr lang="en-US" b="1" u="sng" dirty="0"/>
              <a:t>Installation using init.sh</a:t>
            </a:r>
          </a:p>
          <a:p>
            <a:pPr lvl="1"/>
            <a:endParaRPr lang="en-US" b="1" u="sng" dirty="0"/>
          </a:p>
          <a:p>
            <a:pPr lvl="1"/>
            <a:endParaRPr lang="en-US" b="1" u="sng" dirty="0"/>
          </a:p>
          <a:p>
            <a:pPr marL="800100" lvl="1" indent="-342900">
              <a:buAutoNum type="arabicPeriod"/>
            </a:pPr>
            <a:r>
              <a:rPr lang="en-US" dirty="0"/>
              <a:t>For each nodes, copy the init.sh inside /opt/</a:t>
            </a:r>
            <a:r>
              <a:rPr lang="en-US" dirty="0" err="1"/>
              <a:t>anypoint</a:t>
            </a:r>
            <a:r>
              <a:rPr lang="en-US" dirty="0"/>
              <a:t>/</a:t>
            </a:r>
            <a:r>
              <a:rPr lang="en-US" dirty="0" err="1"/>
              <a:t>runtimefabric</a:t>
            </a:r>
            <a:endParaRPr lang="en-US" dirty="0"/>
          </a:p>
          <a:p>
            <a:pPr marL="800100" lvl="1" indent="-342900">
              <a:buAutoNum type="arabicPeriod"/>
            </a:pPr>
            <a:endParaRPr lang="en-US" dirty="0"/>
          </a:p>
          <a:p>
            <a:pPr marL="800100" lvl="1" indent="-342900">
              <a:buAutoNum type="arabicPeriod"/>
            </a:pPr>
            <a:r>
              <a:rPr lang="en-US" dirty="0"/>
              <a:t>In list of controller nodes, Start running init.sh from controller leader node and then next to other controller nodes.</a:t>
            </a:r>
          </a:p>
          <a:p>
            <a:pPr lvl="1"/>
            <a:r>
              <a:rPr lang="en-US" dirty="0"/>
              <a:t>	Before running change the permission of file by running following command</a:t>
            </a:r>
          </a:p>
          <a:p>
            <a:pPr lvl="1"/>
            <a:r>
              <a:rPr lang="en-US" dirty="0"/>
              <a:t>	</a:t>
            </a:r>
            <a:r>
              <a:rPr lang="it-IT" i="1" dirty="0"/>
              <a:t> [muleusr@hostname01:~/</a:t>
            </a:r>
            <a:r>
              <a:rPr lang="en-US" dirty="0" err="1"/>
              <a:t>runtimefabric</a:t>
            </a:r>
            <a:r>
              <a:rPr lang="it-IT" i="1" dirty="0"/>
              <a:t>]$ </a:t>
            </a:r>
            <a:r>
              <a:rPr lang="en-US" i="1" dirty="0" err="1"/>
              <a:t>sudo</a:t>
            </a:r>
            <a:r>
              <a:rPr lang="en-US" i="1" dirty="0"/>
              <a:t> </a:t>
            </a:r>
            <a:r>
              <a:rPr lang="en-US" i="1" dirty="0" err="1"/>
              <a:t>chmod</a:t>
            </a:r>
            <a:r>
              <a:rPr lang="en-US" i="1" dirty="0"/>
              <a:t> +x ./init.sh</a:t>
            </a:r>
          </a:p>
          <a:p>
            <a:pPr lvl="1"/>
            <a:r>
              <a:rPr lang="en-US" i="1" dirty="0"/>
              <a:t>	 </a:t>
            </a:r>
            <a:r>
              <a:rPr lang="it-IT" i="1" dirty="0"/>
              <a:t>[muleusr@hostname01:~/</a:t>
            </a:r>
            <a:r>
              <a:rPr lang="en-US" dirty="0" err="1"/>
              <a:t>runtimefabric</a:t>
            </a:r>
            <a:r>
              <a:rPr lang="it-IT" i="1" dirty="0"/>
              <a:t>]$ </a:t>
            </a:r>
            <a:r>
              <a:rPr lang="en-US" i="1" dirty="0" err="1"/>
              <a:t>sudo</a:t>
            </a:r>
            <a:r>
              <a:rPr lang="en-US" i="1" dirty="0"/>
              <a:t> ./init.sh</a:t>
            </a:r>
          </a:p>
          <a:p>
            <a:pPr marL="800100" lvl="1" indent="-342900">
              <a:buAutoNum type="arabicPeriod"/>
            </a:pPr>
            <a:endParaRPr lang="en-US" dirty="0"/>
          </a:p>
          <a:p>
            <a:pPr lvl="1"/>
            <a:r>
              <a:rPr lang="en-US" dirty="0"/>
              <a:t>3. Once installation is complete in controller each nodes, then install it in worker each node.</a:t>
            </a:r>
          </a:p>
          <a:p>
            <a:pPr lvl="1"/>
            <a:endParaRPr lang="en-US" dirty="0"/>
          </a:p>
          <a:p>
            <a:pPr lvl="1"/>
            <a:r>
              <a:rPr lang="en-US" dirty="0"/>
              <a:t>4. During the installation, installation logs will get displayed in console and also it get stored in /var/log/rtf-init.log, which we can watch it from </a:t>
            </a:r>
            <a:r>
              <a:rPr lang="da-DK" dirty="0"/>
              <a:t>tail -f /var/log/rtf-init.log</a:t>
            </a:r>
            <a:endParaRPr lang="en-US" dirty="0"/>
          </a:p>
        </p:txBody>
      </p:sp>
    </p:spTree>
    <p:extLst>
      <p:ext uri="{BB962C8B-B14F-4D97-AF65-F5344CB8AC3E}">
        <p14:creationId xmlns:p14="http://schemas.microsoft.com/office/powerpoint/2010/main" val="30191582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C4B6134-2BA7-D59F-57B7-F5CEBBA7C372}"/>
              </a:ext>
            </a:extLst>
          </p:cNvPr>
          <p:cNvSpPr txBox="1"/>
          <p:nvPr/>
        </p:nvSpPr>
        <p:spPr>
          <a:xfrm>
            <a:off x="277091" y="55419"/>
            <a:ext cx="11547764" cy="6555641"/>
          </a:xfrm>
          <a:prstGeom prst="rect">
            <a:avLst/>
          </a:prstGeom>
          <a:noFill/>
        </p:spPr>
        <p:txBody>
          <a:bodyPr wrap="square" rtlCol="0">
            <a:spAutoFit/>
          </a:bodyPr>
          <a:lstStyle/>
          <a:p>
            <a:pPr algn="l"/>
            <a:r>
              <a:rPr lang="en-GB" sz="1800" b="1" i="0" dirty="0">
                <a:solidFill>
                  <a:srgbClr val="242424"/>
                </a:solidFill>
                <a:effectLst/>
                <a:latin typeface="Calibri" panose="020F0502020204030204" pitchFamily="34" charset="0"/>
              </a:rPr>
              <a:t>Installation – logs - Controller node:</a:t>
            </a:r>
            <a:endParaRPr lang="en-GB" sz="1800" b="0" i="0" dirty="0">
              <a:solidFill>
                <a:srgbClr val="242424"/>
              </a:solidFill>
              <a:effectLst/>
              <a:latin typeface="Calibri" panose="020F0502020204030204" pitchFamily="34" charset="0"/>
            </a:endParaRPr>
          </a:p>
          <a:p>
            <a:pPr algn="l"/>
            <a:r>
              <a:rPr lang="en-GB" sz="1800" b="1" i="0" dirty="0">
                <a:solidFill>
                  <a:srgbClr val="242424"/>
                </a:solidFill>
                <a:effectLst/>
                <a:latin typeface="Calibri" panose="020F0502020204030204" pitchFamily="34" charset="0"/>
              </a:rPr>
              <a:t> </a:t>
            </a:r>
            <a:endParaRPr lang="en-GB" sz="1800" b="0" i="0" dirty="0">
              <a:solidFill>
                <a:srgbClr val="242424"/>
              </a:solidFill>
              <a:effectLst/>
              <a:latin typeface="Calibri" panose="020F0502020204030204" pitchFamily="34" charset="0"/>
            </a:endParaRPr>
          </a:p>
          <a:p>
            <a:pPr algn="l"/>
            <a:r>
              <a:rPr lang="en-GB" sz="1600" b="0" i="1" dirty="0">
                <a:solidFill>
                  <a:srgbClr val="242424"/>
                </a:solidFill>
                <a:effectLst/>
                <a:latin typeface="Calibri" panose="020F0502020204030204" pitchFamily="34" charset="0"/>
              </a:rPr>
              <a:t>435s: Waiting for Runtime Fabric to become ready: [agent]</a:t>
            </a:r>
          </a:p>
          <a:p>
            <a:pPr algn="l"/>
            <a:r>
              <a:rPr lang="en-GB" sz="1600" b="0" i="1" dirty="0">
                <a:solidFill>
                  <a:srgbClr val="242424"/>
                </a:solidFill>
                <a:effectLst/>
                <a:latin typeface="Calibri" panose="020F0502020204030204" pitchFamily="34" charset="0"/>
              </a:rPr>
              <a:t>440s: Waiting for Runtime Fabric to become ready: [agent]</a:t>
            </a:r>
          </a:p>
          <a:p>
            <a:pPr algn="l"/>
            <a:r>
              <a:rPr lang="en-GB" sz="1600" b="0" i="1" dirty="0">
                <a:solidFill>
                  <a:srgbClr val="242424"/>
                </a:solidFill>
                <a:effectLst/>
                <a:latin typeface="Calibri" panose="020F0502020204030204" pitchFamily="34" charset="0"/>
              </a:rPr>
              <a:t>445s: Waiting for Runtime Fabric to become ready: [agent]</a:t>
            </a:r>
          </a:p>
          <a:p>
            <a:pPr algn="l"/>
            <a:r>
              <a:rPr lang="en-GB" sz="1600" b="0" i="1" dirty="0">
                <a:solidFill>
                  <a:srgbClr val="242424"/>
                </a:solidFill>
                <a:effectLst/>
                <a:latin typeface="Calibri" panose="020F0502020204030204" pitchFamily="34" charset="0"/>
              </a:rPr>
              <a:t>450s: Waiting for Runtime Fabric to become ready: [agent]</a:t>
            </a:r>
          </a:p>
          <a:p>
            <a:pPr algn="l"/>
            <a:r>
              <a:rPr lang="en-GB" sz="1600" b="0" i="1" dirty="0">
                <a:solidFill>
                  <a:srgbClr val="242424"/>
                </a:solidFill>
                <a:effectLst/>
                <a:latin typeface="Calibri" panose="020F0502020204030204" pitchFamily="34" charset="0"/>
              </a:rPr>
              <a:t>455s: Waiting for Runtime Fabric to become ready: [agent]</a:t>
            </a:r>
          </a:p>
          <a:p>
            <a:pPr algn="l"/>
            <a:r>
              <a:rPr lang="en-GB" sz="1600" b="0" i="1" dirty="0">
                <a:solidFill>
                  <a:srgbClr val="242424"/>
                </a:solidFill>
                <a:effectLst/>
                <a:latin typeface="Calibri" panose="020F0502020204030204" pitchFamily="34" charset="0"/>
              </a:rPr>
              <a:t>460s: Waiting for Runtime Fabric to become ready: [agent]</a:t>
            </a:r>
          </a:p>
          <a:p>
            <a:pPr algn="l"/>
            <a:r>
              <a:rPr lang="en-GB" sz="1600" b="0" i="1" dirty="0">
                <a:solidFill>
                  <a:srgbClr val="242424"/>
                </a:solidFill>
                <a:effectLst/>
                <a:latin typeface="Calibri" panose="020F0502020204030204" pitchFamily="34" charset="0"/>
              </a:rPr>
              <a:t>466s: Waiting for Runtime Fabric to become ready: [agent]</a:t>
            </a:r>
          </a:p>
          <a:p>
            <a:pPr algn="l"/>
            <a:r>
              <a:rPr lang="en-GB" sz="1600" b="0" i="1" dirty="0">
                <a:solidFill>
                  <a:srgbClr val="242424"/>
                </a:solidFill>
                <a:effectLst/>
                <a:latin typeface="Calibri" panose="020F0502020204030204" pitchFamily="34" charset="0"/>
              </a:rPr>
              <a:t>Runtime Fabric is ready.</a:t>
            </a:r>
          </a:p>
          <a:p>
            <a:pPr algn="l"/>
            <a:r>
              <a:rPr lang="en-GB" sz="1600" b="0" i="1" dirty="0">
                <a:solidFill>
                  <a:srgbClr val="242424"/>
                </a:solidFill>
                <a:effectLst/>
                <a:latin typeface="Calibri" panose="020F0502020204030204" pitchFamily="34" charset="0"/>
              </a:rPr>
              <a:t>Done.</a:t>
            </a:r>
          </a:p>
          <a:p>
            <a:pPr algn="l"/>
            <a:r>
              <a:rPr lang="en-GB" sz="1600" b="0" i="1" dirty="0">
                <a:solidFill>
                  <a:srgbClr val="242424"/>
                </a:solidFill>
                <a:effectLst/>
                <a:latin typeface="Calibri" panose="020F0502020204030204" pitchFamily="34" charset="0"/>
              </a:rPr>
              <a:t>  </a:t>
            </a:r>
          </a:p>
          <a:p>
            <a:pPr algn="l"/>
            <a:r>
              <a:rPr lang="en-GB" sz="1600" b="0" i="1" dirty="0">
                <a:solidFill>
                  <a:srgbClr val="242424"/>
                </a:solidFill>
                <a:effectLst/>
                <a:latin typeface="Calibri" panose="020F0502020204030204" pitchFamily="34" charset="0"/>
              </a:rPr>
              <a:t>17 / 18: Install Mule license</a:t>
            </a:r>
          </a:p>
          <a:p>
            <a:pPr algn="l"/>
            <a:r>
              <a:rPr lang="en-GB" sz="1600" b="0" i="1" dirty="0">
                <a:solidFill>
                  <a:srgbClr val="242424"/>
                </a:solidFill>
                <a:effectLst/>
                <a:latin typeface="Calibri" panose="020F0502020204030204" pitchFamily="34" charset="0"/>
              </a:rPr>
              <a:t>================================================</a:t>
            </a:r>
          </a:p>
          <a:p>
            <a:pPr algn="l"/>
            <a:r>
              <a:rPr lang="en-GB" sz="1600" b="0" i="1" dirty="0">
                <a:solidFill>
                  <a:srgbClr val="242424"/>
                </a:solidFill>
                <a:effectLst/>
                <a:latin typeface="Calibri" panose="020F0502020204030204" pitchFamily="34" charset="0"/>
              </a:rPr>
              <a:t>Configuring Mule license...</a:t>
            </a:r>
          </a:p>
          <a:p>
            <a:pPr algn="l"/>
            <a:r>
              <a:rPr lang="en-GB" sz="1600" b="0" i="1" dirty="0">
                <a:solidFill>
                  <a:srgbClr val="242424"/>
                </a:solidFill>
                <a:effectLst/>
                <a:latin typeface="Calibri" panose="020F0502020204030204" pitchFamily="34" charset="0"/>
              </a:rPr>
              <a:t>Update rtf</a:t>
            </a:r>
          </a:p>
          <a:p>
            <a:pPr algn="l"/>
            <a:r>
              <a:rPr lang="en-GB" sz="1600" b="0" i="1" dirty="0">
                <a:solidFill>
                  <a:srgbClr val="242424"/>
                </a:solidFill>
                <a:effectLst/>
                <a:latin typeface="Calibri" panose="020F0502020204030204" pitchFamily="34" charset="0"/>
              </a:rPr>
              <a:t>Mule license updated.</a:t>
            </a:r>
          </a:p>
          <a:p>
            <a:pPr algn="l"/>
            <a:r>
              <a:rPr lang="en-GB" sz="1600" b="0" i="1" dirty="0">
                <a:solidFill>
                  <a:srgbClr val="242424"/>
                </a:solidFill>
                <a:effectLst/>
                <a:latin typeface="Calibri" panose="020F0502020204030204" pitchFamily="34" charset="0"/>
              </a:rPr>
              <a:t>Done.</a:t>
            </a:r>
          </a:p>
          <a:p>
            <a:pPr algn="l"/>
            <a:r>
              <a:rPr lang="en-GB" sz="1600" b="0" i="1" dirty="0">
                <a:solidFill>
                  <a:srgbClr val="242424"/>
                </a:solidFill>
                <a:effectLst/>
                <a:latin typeface="Calibri" panose="020F0502020204030204" pitchFamily="34" charset="0"/>
              </a:rPr>
              <a:t>  </a:t>
            </a:r>
          </a:p>
          <a:p>
            <a:pPr algn="l"/>
            <a:r>
              <a:rPr lang="en-GB" sz="1600" b="0" i="1" dirty="0">
                <a:solidFill>
                  <a:srgbClr val="242424"/>
                </a:solidFill>
                <a:effectLst/>
                <a:latin typeface="Calibri" panose="020F0502020204030204" pitchFamily="34" charset="0"/>
              </a:rPr>
              <a:t>18 / 18: Wait for connectivity</a:t>
            </a:r>
          </a:p>
          <a:p>
            <a:pPr algn="l"/>
            <a:r>
              <a:rPr lang="en-GB" sz="1600" b="0" i="1" dirty="0">
                <a:solidFill>
                  <a:srgbClr val="242424"/>
                </a:solidFill>
                <a:effectLst/>
                <a:latin typeface="Calibri" panose="020F0502020204030204" pitchFamily="34" charset="0"/>
              </a:rPr>
              <a:t>================================================</a:t>
            </a:r>
          </a:p>
          <a:p>
            <a:pPr algn="l"/>
            <a:r>
              <a:rPr lang="en-GB" sz="1600" b="0" i="1" dirty="0">
                <a:solidFill>
                  <a:srgbClr val="242424"/>
                </a:solidFill>
                <a:effectLst/>
                <a:latin typeface="Calibri" panose="020F0502020204030204" pitchFamily="34" charset="0"/>
              </a:rPr>
              <a:t>Waiting up to 10m0s for readiness</a:t>
            </a:r>
          </a:p>
          <a:p>
            <a:pPr algn="l"/>
            <a:r>
              <a:rPr lang="en-GB" sz="1600" b="0" i="1" dirty="0">
                <a:solidFill>
                  <a:srgbClr val="242424"/>
                </a:solidFill>
                <a:effectLst/>
                <a:latin typeface="Calibri" panose="020F0502020204030204" pitchFamily="34" charset="0"/>
              </a:rPr>
              <a:t>Runtime Fabric is ready.</a:t>
            </a:r>
          </a:p>
          <a:p>
            <a:pPr algn="l"/>
            <a:r>
              <a:rPr lang="en-GB" sz="1600" b="0" i="1" dirty="0">
                <a:solidFill>
                  <a:srgbClr val="242424"/>
                </a:solidFill>
                <a:effectLst/>
                <a:latin typeface="Calibri" panose="020F0502020204030204" pitchFamily="34" charset="0"/>
              </a:rPr>
              <a:t>Done.</a:t>
            </a:r>
          </a:p>
          <a:p>
            <a:pPr algn="l"/>
            <a:r>
              <a:rPr lang="en-GB" sz="1600" b="0" i="1" dirty="0">
                <a:solidFill>
                  <a:srgbClr val="242424"/>
                </a:solidFill>
                <a:effectLst/>
                <a:latin typeface="Calibri" panose="020F0502020204030204" pitchFamily="34" charset="0"/>
              </a:rPr>
              <a:t> </a:t>
            </a:r>
          </a:p>
          <a:p>
            <a:pPr algn="l"/>
            <a:r>
              <a:rPr lang="en-GB" sz="1600" b="0" i="1" dirty="0">
                <a:solidFill>
                  <a:srgbClr val="242424"/>
                </a:solidFill>
                <a:effectLst/>
                <a:latin typeface="Calibri" panose="020F0502020204030204" pitchFamily="34" charset="0"/>
              </a:rPr>
              <a:t>Runtime Fabric installation complete.</a:t>
            </a:r>
          </a:p>
        </p:txBody>
      </p:sp>
    </p:spTree>
    <p:extLst>
      <p:ext uri="{BB962C8B-B14F-4D97-AF65-F5344CB8AC3E}">
        <p14:creationId xmlns:p14="http://schemas.microsoft.com/office/powerpoint/2010/main" val="12167179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C4B6134-2BA7-D59F-57B7-F5CEBBA7C372}"/>
              </a:ext>
            </a:extLst>
          </p:cNvPr>
          <p:cNvSpPr txBox="1"/>
          <p:nvPr/>
        </p:nvSpPr>
        <p:spPr>
          <a:xfrm>
            <a:off x="277091" y="55419"/>
            <a:ext cx="11547764" cy="3693319"/>
          </a:xfrm>
          <a:prstGeom prst="rect">
            <a:avLst/>
          </a:prstGeom>
          <a:noFill/>
        </p:spPr>
        <p:txBody>
          <a:bodyPr wrap="square" rtlCol="0">
            <a:spAutoFit/>
          </a:bodyPr>
          <a:lstStyle/>
          <a:p>
            <a:pPr algn="l"/>
            <a:r>
              <a:rPr lang="en-GB" sz="1800" b="1" i="0" dirty="0">
                <a:solidFill>
                  <a:srgbClr val="242424"/>
                </a:solidFill>
                <a:effectLst/>
                <a:latin typeface="Calibri" panose="020F0502020204030204" pitchFamily="34" charset="0"/>
              </a:rPr>
              <a:t>Installation – logs - Worker node:</a:t>
            </a:r>
            <a:endParaRPr lang="en-GB" sz="1800" b="0" i="0" dirty="0">
              <a:solidFill>
                <a:srgbClr val="242424"/>
              </a:solidFill>
              <a:effectLst/>
              <a:latin typeface="Calibri" panose="020F0502020204030204" pitchFamily="34" charset="0"/>
            </a:endParaRPr>
          </a:p>
          <a:p>
            <a:pPr algn="l"/>
            <a:r>
              <a:rPr lang="en-GB" sz="1800" b="1" i="0" dirty="0">
                <a:solidFill>
                  <a:srgbClr val="242424"/>
                </a:solidFill>
                <a:effectLst/>
                <a:latin typeface="Calibri" panose="020F0502020204030204" pitchFamily="34" charset="0"/>
              </a:rPr>
              <a:t> </a:t>
            </a:r>
            <a:endParaRPr lang="en-GB" sz="1800" b="0" i="0" dirty="0">
              <a:solidFill>
                <a:srgbClr val="242424"/>
              </a:solidFill>
              <a:effectLst/>
              <a:latin typeface="Calibri" panose="020F0502020204030204" pitchFamily="34" charset="0"/>
            </a:endParaRPr>
          </a:p>
          <a:p>
            <a:pPr algn="l"/>
            <a:r>
              <a:rPr lang="en-GB" sz="1800" b="0" i="1" dirty="0">
                <a:solidFill>
                  <a:srgbClr val="242424"/>
                </a:solidFill>
                <a:effectLst/>
                <a:latin typeface="Calibri" panose="020F0502020204030204" pitchFamily="34" charset="0"/>
              </a:rPr>
              <a:t>11 / 12: Add </a:t>
            </a:r>
            <a:r>
              <a:rPr lang="en-GB" sz="1800" b="0" i="1" dirty="0" err="1">
                <a:solidFill>
                  <a:srgbClr val="242424"/>
                </a:solidFill>
                <a:effectLst/>
                <a:latin typeface="Calibri" panose="020F0502020204030204" pitchFamily="34" charset="0"/>
              </a:rPr>
              <a:t>cgroup</a:t>
            </a:r>
            <a:r>
              <a:rPr lang="en-GB" sz="1800" b="0" i="1" dirty="0">
                <a:solidFill>
                  <a:srgbClr val="242424"/>
                </a:solidFill>
                <a:effectLst/>
                <a:latin typeface="Calibri" panose="020F0502020204030204" pitchFamily="34" charset="0"/>
              </a:rPr>
              <a:t> </a:t>
            </a:r>
            <a:r>
              <a:rPr lang="en-GB" sz="1800" b="0" i="1" dirty="0" err="1">
                <a:solidFill>
                  <a:srgbClr val="242424"/>
                </a:solidFill>
                <a:effectLst/>
                <a:latin typeface="Calibri" panose="020F0502020204030204" pitchFamily="34" charset="0"/>
              </a:rPr>
              <a:t>cleanup</a:t>
            </a:r>
            <a:r>
              <a:rPr lang="en-GB" sz="1800" b="0" i="1" dirty="0">
                <a:solidFill>
                  <a:srgbClr val="242424"/>
                </a:solidFill>
                <a:effectLst/>
                <a:latin typeface="Calibri" panose="020F0502020204030204" pitchFamily="34" charset="0"/>
              </a:rPr>
              <a:t> job</a:t>
            </a:r>
          </a:p>
          <a:p>
            <a:pPr algn="l"/>
            <a:r>
              <a:rPr lang="en-GB" sz="1800" b="0" i="1" dirty="0">
                <a:solidFill>
                  <a:srgbClr val="242424"/>
                </a:solidFill>
                <a:effectLst/>
                <a:latin typeface="Calibri" panose="020F0502020204030204" pitchFamily="34" charset="0"/>
              </a:rPr>
              <a:t>================================================</a:t>
            </a:r>
          </a:p>
          <a:p>
            <a:pPr algn="l"/>
            <a:r>
              <a:rPr lang="en-GB" sz="1800" b="0" i="1" dirty="0">
                <a:solidFill>
                  <a:srgbClr val="242424"/>
                </a:solidFill>
                <a:effectLst/>
                <a:latin typeface="Calibri" panose="020F0502020204030204" pitchFamily="34" charset="0"/>
              </a:rPr>
              <a:t>Skipped. Detected OS version: 8.4, not compatible.</a:t>
            </a:r>
          </a:p>
          <a:p>
            <a:pPr algn="l"/>
            <a:r>
              <a:rPr lang="en-GB" sz="1800" b="0" i="1" dirty="0">
                <a:solidFill>
                  <a:srgbClr val="242424"/>
                </a:solidFill>
                <a:effectLst/>
                <a:latin typeface="Calibri" panose="020F0502020204030204" pitchFamily="34" charset="0"/>
              </a:rPr>
              <a:t>Done.</a:t>
            </a:r>
          </a:p>
          <a:p>
            <a:pPr algn="l"/>
            <a:r>
              <a:rPr lang="en-GB" sz="1800" b="0" i="1" dirty="0">
                <a:solidFill>
                  <a:srgbClr val="242424"/>
                </a:solidFill>
                <a:effectLst/>
                <a:latin typeface="Calibri" panose="020F0502020204030204" pitchFamily="34" charset="0"/>
              </a:rPr>
              <a:t> </a:t>
            </a:r>
          </a:p>
          <a:p>
            <a:pPr algn="l"/>
            <a:r>
              <a:rPr lang="en-GB" sz="1800" b="0" i="1" dirty="0">
                <a:solidFill>
                  <a:srgbClr val="242424"/>
                </a:solidFill>
                <a:effectLst/>
                <a:latin typeface="Calibri" panose="020F0502020204030204" pitchFamily="34" charset="0"/>
              </a:rPr>
              <a:t> </a:t>
            </a:r>
          </a:p>
          <a:p>
            <a:pPr algn="l"/>
            <a:r>
              <a:rPr lang="en-GB" sz="1800" b="0" i="1" dirty="0">
                <a:solidFill>
                  <a:srgbClr val="242424"/>
                </a:solidFill>
                <a:effectLst/>
                <a:latin typeface="Calibri" panose="020F0502020204030204" pitchFamily="34" charset="0"/>
              </a:rPr>
              <a:t>12 / 12: Configure </a:t>
            </a:r>
            <a:r>
              <a:rPr lang="en-GB" sz="1800" b="0" i="1" dirty="0" err="1">
                <a:solidFill>
                  <a:srgbClr val="242424"/>
                </a:solidFill>
                <a:effectLst/>
                <a:latin typeface="Calibri" panose="020F0502020204030204" pitchFamily="34" charset="0"/>
              </a:rPr>
              <a:t>dockerd</a:t>
            </a:r>
            <a:r>
              <a:rPr lang="en-GB" sz="1800" b="0" i="1" dirty="0">
                <a:solidFill>
                  <a:srgbClr val="242424"/>
                </a:solidFill>
                <a:effectLst/>
                <a:latin typeface="Calibri" panose="020F0502020204030204" pitchFamily="34" charset="0"/>
              </a:rPr>
              <a:t> proxy</a:t>
            </a:r>
          </a:p>
          <a:p>
            <a:pPr algn="l"/>
            <a:r>
              <a:rPr lang="en-GB" sz="1800" b="0" i="1" dirty="0">
                <a:solidFill>
                  <a:srgbClr val="242424"/>
                </a:solidFill>
                <a:effectLst/>
                <a:latin typeface="Calibri" panose="020F0502020204030204" pitchFamily="34" charset="0"/>
              </a:rPr>
              <a:t>================================================</a:t>
            </a:r>
          </a:p>
          <a:p>
            <a:pPr algn="l"/>
            <a:r>
              <a:rPr lang="en-GB" sz="1800" b="0" i="1" dirty="0">
                <a:solidFill>
                  <a:srgbClr val="242424"/>
                </a:solidFill>
                <a:effectLst/>
                <a:latin typeface="Calibri" panose="020F0502020204030204" pitchFamily="34" charset="0"/>
              </a:rPr>
              <a:t>Done.</a:t>
            </a:r>
          </a:p>
          <a:p>
            <a:pPr algn="l"/>
            <a:r>
              <a:rPr lang="en-GB" sz="1800" b="0" i="1" dirty="0">
                <a:solidFill>
                  <a:srgbClr val="242424"/>
                </a:solidFill>
                <a:effectLst/>
                <a:latin typeface="Calibri" panose="020F0502020204030204" pitchFamily="34" charset="0"/>
              </a:rPr>
              <a:t> </a:t>
            </a:r>
          </a:p>
          <a:p>
            <a:pPr algn="l"/>
            <a:r>
              <a:rPr lang="en-GB" sz="1800" b="0" i="1" dirty="0">
                <a:solidFill>
                  <a:srgbClr val="242424"/>
                </a:solidFill>
                <a:effectLst/>
                <a:latin typeface="Calibri" panose="020F0502020204030204" pitchFamily="34" charset="0"/>
              </a:rPr>
              <a:t>Runtime Fabric installation complete.</a:t>
            </a:r>
          </a:p>
        </p:txBody>
      </p:sp>
    </p:spTree>
    <p:extLst>
      <p:ext uri="{BB962C8B-B14F-4D97-AF65-F5344CB8AC3E}">
        <p14:creationId xmlns:p14="http://schemas.microsoft.com/office/powerpoint/2010/main" val="9275920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56D654D-1F1C-9A3D-939D-E43011295269}"/>
              </a:ext>
            </a:extLst>
          </p:cNvPr>
          <p:cNvPicPr>
            <a:picLocks noChangeAspect="1"/>
          </p:cNvPicPr>
          <p:nvPr/>
        </p:nvPicPr>
        <p:blipFill>
          <a:blip r:embed="rId2"/>
          <a:stretch>
            <a:fillRect/>
          </a:stretch>
        </p:blipFill>
        <p:spPr>
          <a:xfrm>
            <a:off x="560575" y="616527"/>
            <a:ext cx="6888671" cy="4461163"/>
          </a:xfrm>
          <a:prstGeom prst="rect">
            <a:avLst/>
          </a:prstGeom>
        </p:spPr>
      </p:pic>
      <p:sp>
        <p:nvSpPr>
          <p:cNvPr id="6" name="TextBox 5">
            <a:extLst>
              <a:ext uri="{FF2B5EF4-FFF2-40B4-BE49-F238E27FC236}">
                <a16:creationId xmlns:a16="http://schemas.microsoft.com/office/drawing/2014/main" id="{4EEF633E-4667-A96D-AF91-9B5143699D2F}"/>
              </a:ext>
            </a:extLst>
          </p:cNvPr>
          <p:cNvSpPr txBox="1"/>
          <p:nvPr/>
        </p:nvSpPr>
        <p:spPr>
          <a:xfrm>
            <a:off x="290945" y="96982"/>
            <a:ext cx="8160328" cy="369332"/>
          </a:xfrm>
          <a:prstGeom prst="rect">
            <a:avLst/>
          </a:prstGeom>
          <a:noFill/>
        </p:spPr>
        <p:txBody>
          <a:bodyPr wrap="square" rtlCol="0">
            <a:spAutoFit/>
          </a:bodyPr>
          <a:lstStyle/>
          <a:p>
            <a:r>
              <a:rPr lang="en-US" dirty="0"/>
              <a:t>Anypoint platform – Runtime Fabric</a:t>
            </a:r>
            <a:endParaRPr lang="en-SG" dirty="0"/>
          </a:p>
        </p:txBody>
      </p:sp>
      <p:pic>
        <p:nvPicPr>
          <p:cNvPr id="8" name="Picture 7">
            <a:extLst>
              <a:ext uri="{FF2B5EF4-FFF2-40B4-BE49-F238E27FC236}">
                <a16:creationId xmlns:a16="http://schemas.microsoft.com/office/drawing/2014/main" id="{5AA1DAB8-7516-37AE-63B4-D75D76E48418}"/>
              </a:ext>
            </a:extLst>
          </p:cNvPr>
          <p:cNvPicPr>
            <a:picLocks noChangeAspect="1"/>
          </p:cNvPicPr>
          <p:nvPr/>
        </p:nvPicPr>
        <p:blipFill>
          <a:blip r:embed="rId3"/>
          <a:stretch>
            <a:fillRect/>
          </a:stretch>
        </p:blipFill>
        <p:spPr>
          <a:xfrm>
            <a:off x="1711036" y="5077690"/>
            <a:ext cx="6116247" cy="1569808"/>
          </a:xfrm>
          <a:prstGeom prst="rect">
            <a:avLst/>
          </a:prstGeom>
        </p:spPr>
      </p:pic>
    </p:spTree>
    <p:extLst>
      <p:ext uri="{BB962C8B-B14F-4D97-AF65-F5344CB8AC3E}">
        <p14:creationId xmlns:p14="http://schemas.microsoft.com/office/powerpoint/2010/main" val="29131584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C0488D3-E6F4-DE8B-D3C1-26EFD5AEDA60}"/>
              </a:ext>
            </a:extLst>
          </p:cNvPr>
          <p:cNvPicPr>
            <a:picLocks noChangeAspect="1"/>
          </p:cNvPicPr>
          <p:nvPr/>
        </p:nvPicPr>
        <p:blipFill>
          <a:blip r:embed="rId2"/>
          <a:stretch>
            <a:fillRect/>
          </a:stretch>
        </p:blipFill>
        <p:spPr>
          <a:xfrm>
            <a:off x="457200" y="949035"/>
            <a:ext cx="5100637" cy="3324225"/>
          </a:xfrm>
          <a:prstGeom prst="rect">
            <a:avLst/>
          </a:prstGeom>
        </p:spPr>
      </p:pic>
      <p:sp>
        <p:nvSpPr>
          <p:cNvPr id="6" name="TextBox 5">
            <a:extLst>
              <a:ext uri="{FF2B5EF4-FFF2-40B4-BE49-F238E27FC236}">
                <a16:creationId xmlns:a16="http://schemas.microsoft.com/office/drawing/2014/main" id="{EE3CB5DA-40C9-E0B7-4D4A-6AF77F15D5B3}"/>
              </a:ext>
            </a:extLst>
          </p:cNvPr>
          <p:cNvSpPr txBox="1"/>
          <p:nvPr/>
        </p:nvSpPr>
        <p:spPr>
          <a:xfrm>
            <a:off x="290945" y="96982"/>
            <a:ext cx="8160328" cy="369332"/>
          </a:xfrm>
          <a:prstGeom prst="rect">
            <a:avLst/>
          </a:prstGeom>
          <a:noFill/>
        </p:spPr>
        <p:txBody>
          <a:bodyPr wrap="square" rtlCol="0">
            <a:spAutoFit/>
          </a:bodyPr>
          <a:lstStyle/>
          <a:p>
            <a:r>
              <a:rPr lang="en-US" dirty="0"/>
              <a:t>Anypoint platform – Associated Environment</a:t>
            </a:r>
            <a:endParaRPr lang="en-SG" dirty="0"/>
          </a:p>
        </p:txBody>
      </p:sp>
      <p:sp>
        <p:nvSpPr>
          <p:cNvPr id="7" name="TextBox 6">
            <a:extLst>
              <a:ext uri="{FF2B5EF4-FFF2-40B4-BE49-F238E27FC236}">
                <a16:creationId xmlns:a16="http://schemas.microsoft.com/office/drawing/2014/main" id="{04B0B9AB-A1EE-7D69-49CC-335980A698AF}"/>
              </a:ext>
            </a:extLst>
          </p:cNvPr>
          <p:cNvSpPr txBox="1"/>
          <p:nvPr/>
        </p:nvSpPr>
        <p:spPr>
          <a:xfrm>
            <a:off x="429491" y="466314"/>
            <a:ext cx="5784273" cy="369332"/>
          </a:xfrm>
          <a:prstGeom prst="rect">
            <a:avLst/>
          </a:prstGeom>
          <a:noFill/>
        </p:spPr>
        <p:txBody>
          <a:bodyPr wrap="square" rtlCol="0">
            <a:spAutoFit/>
          </a:bodyPr>
          <a:lstStyle/>
          <a:p>
            <a:r>
              <a:rPr lang="en-US" dirty="0"/>
              <a:t>Check the checkbox for required environment </a:t>
            </a:r>
            <a:endParaRPr lang="en-SG" dirty="0"/>
          </a:p>
        </p:txBody>
      </p:sp>
    </p:spTree>
    <p:extLst>
      <p:ext uri="{BB962C8B-B14F-4D97-AF65-F5344CB8AC3E}">
        <p14:creationId xmlns:p14="http://schemas.microsoft.com/office/powerpoint/2010/main" val="17130981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C230307-3D87-9CAD-63BD-AA1D00A790E6}"/>
              </a:ext>
            </a:extLst>
          </p:cNvPr>
          <p:cNvPicPr>
            <a:picLocks noChangeAspect="1"/>
          </p:cNvPicPr>
          <p:nvPr/>
        </p:nvPicPr>
        <p:blipFill>
          <a:blip r:embed="rId2"/>
          <a:stretch>
            <a:fillRect/>
          </a:stretch>
        </p:blipFill>
        <p:spPr>
          <a:xfrm>
            <a:off x="297873" y="496219"/>
            <a:ext cx="4869872" cy="3180325"/>
          </a:xfrm>
          <a:prstGeom prst="rect">
            <a:avLst/>
          </a:prstGeom>
        </p:spPr>
      </p:pic>
      <p:graphicFrame>
        <p:nvGraphicFramePr>
          <p:cNvPr id="6" name="Object 5">
            <a:extLst>
              <a:ext uri="{FF2B5EF4-FFF2-40B4-BE49-F238E27FC236}">
                <a16:creationId xmlns:a16="http://schemas.microsoft.com/office/drawing/2014/main" id="{A39C3271-BD34-8544-CC58-F18CC7B9C6C6}"/>
              </a:ext>
            </a:extLst>
          </p:cNvPr>
          <p:cNvGraphicFramePr>
            <a:graphicFrameLocks noChangeAspect="1"/>
          </p:cNvGraphicFramePr>
          <p:nvPr>
            <p:extLst>
              <p:ext uri="{D42A27DB-BD31-4B8C-83A1-F6EECF244321}">
                <p14:modId xmlns:p14="http://schemas.microsoft.com/office/powerpoint/2010/main" val="482228577"/>
              </p:ext>
            </p:extLst>
          </p:nvPr>
        </p:nvGraphicFramePr>
        <p:xfrm>
          <a:off x="5475151" y="2326857"/>
          <a:ext cx="6354129" cy="4495799"/>
        </p:xfrm>
        <a:graphic>
          <a:graphicData uri="http://schemas.openxmlformats.org/presentationml/2006/ole">
            <mc:AlternateContent xmlns:mc="http://schemas.openxmlformats.org/markup-compatibility/2006">
              <mc:Choice xmlns:v="urn:schemas-microsoft-com:vml" Requires="v">
                <p:oleObj name="Bitmap Image" r:id="rId3" imgW="8169840" imgH="5780160" progId="PBrush">
                  <p:embed/>
                </p:oleObj>
              </mc:Choice>
              <mc:Fallback>
                <p:oleObj name="Bitmap Image" r:id="rId3" imgW="8169840" imgH="5780160" progId="PBrush">
                  <p:embed/>
                  <p:pic>
                    <p:nvPicPr>
                      <p:cNvPr id="0" name=""/>
                      <p:cNvPicPr/>
                      <p:nvPr/>
                    </p:nvPicPr>
                    <p:blipFill>
                      <a:blip r:embed="rId4"/>
                      <a:stretch>
                        <a:fillRect/>
                      </a:stretch>
                    </p:blipFill>
                    <p:spPr>
                      <a:xfrm>
                        <a:off x="5475151" y="2326857"/>
                        <a:ext cx="6354129" cy="4495799"/>
                      </a:xfrm>
                      <a:prstGeom prst="rect">
                        <a:avLst/>
                      </a:prstGeom>
                    </p:spPr>
                  </p:pic>
                </p:oleObj>
              </mc:Fallback>
            </mc:AlternateContent>
          </a:graphicData>
        </a:graphic>
      </p:graphicFrame>
      <p:sp>
        <p:nvSpPr>
          <p:cNvPr id="7" name="TextBox 6">
            <a:extLst>
              <a:ext uri="{FF2B5EF4-FFF2-40B4-BE49-F238E27FC236}">
                <a16:creationId xmlns:a16="http://schemas.microsoft.com/office/drawing/2014/main" id="{4B76F34D-A869-D30B-29B6-0F3FC25E2B89}"/>
              </a:ext>
            </a:extLst>
          </p:cNvPr>
          <p:cNvSpPr txBox="1"/>
          <p:nvPr/>
        </p:nvSpPr>
        <p:spPr>
          <a:xfrm>
            <a:off x="290945" y="96982"/>
            <a:ext cx="8160328" cy="369332"/>
          </a:xfrm>
          <a:prstGeom prst="rect">
            <a:avLst/>
          </a:prstGeom>
          <a:noFill/>
        </p:spPr>
        <p:txBody>
          <a:bodyPr wrap="square" rtlCol="0">
            <a:spAutoFit/>
          </a:bodyPr>
          <a:lstStyle/>
          <a:p>
            <a:r>
              <a:rPr lang="en-US" dirty="0"/>
              <a:t>Verification from Anypoint platform – Inbound Traffic</a:t>
            </a:r>
            <a:endParaRPr lang="en-SG" dirty="0"/>
          </a:p>
        </p:txBody>
      </p:sp>
    </p:spTree>
    <p:extLst>
      <p:ext uri="{BB962C8B-B14F-4D97-AF65-F5344CB8AC3E}">
        <p14:creationId xmlns:p14="http://schemas.microsoft.com/office/powerpoint/2010/main" val="25222832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3F1858C-0A3E-520B-37E1-9E0120185A51}"/>
              </a:ext>
            </a:extLst>
          </p:cNvPr>
          <p:cNvPicPr>
            <a:picLocks noChangeAspect="1"/>
          </p:cNvPicPr>
          <p:nvPr/>
        </p:nvPicPr>
        <p:blipFill>
          <a:blip r:embed="rId2"/>
          <a:stretch>
            <a:fillRect/>
          </a:stretch>
        </p:blipFill>
        <p:spPr>
          <a:xfrm>
            <a:off x="789709" y="1285360"/>
            <a:ext cx="5104014" cy="4637458"/>
          </a:xfrm>
          <a:prstGeom prst="rect">
            <a:avLst/>
          </a:prstGeom>
        </p:spPr>
      </p:pic>
      <p:sp>
        <p:nvSpPr>
          <p:cNvPr id="7" name="TextBox 6">
            <a:extLst>
              <a:ext uri="{FF2B5EF4-FFF2-40B4-BE49-F238E27FC236}">
                <a16:creationId xmlns:a16="http://schemas.microsoft.com/office/drawing/2014/main" id="{EE9F2C3B-4011-9C16-1D2F-09882CD59EDE}"/>
              </a:ext>
            </a:extLst>
          </p:cNvPr>
          <p:cNvSpPr txBox="1"/>
          <p:nvPr/>
        </p:nvSpPr>
        <p:spPr>
          <a:xfrm>
            <a:off x="367146" y="390297"/>
            <a:ext cx="6096000" cy="369332"/>
          </a:xfrm>
          <a:prstGeom prst="rect">
            <a:avLst/>
          </a:prstGeom>
          <a:noFill/>
        </p:spPr>
        <p:txBody>
          <a:bodyPr wrap="square">
            <a:spAutoFit/>
          </a:bodyPr>
          <a:lstStyle/>
          <a:p>
            <a:r>
              <a:rPr lang="en-US" dirty="0"/>
              <a:t>Anypoint platform – Add Certificate</a:t>
            </a:r>
            <a:endParaRPr lang="en-SG" dirty="0"/>
          </a:p>
        </p:txBody>
      </p:sp>
    </p:spTree>
    <p:extLst>
      <p:ext uri="{BB962C8B-B14F-4D97-AF65-F5344CB8AC3E}">
        <p14:creationId xmlns:p14="http://schemas.microsoft.com/office/powerpoint/2010/main" val="23493431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32F30E3-05A8-BA57-7AF7-E0C0E8715A5D}"/>
              </a:ext>
            </a:extLst>
          </p:cNvPr>
          <p:cNvSpPr txBox="1"/>
          <p:nvPr/>
        </p:nvSpPr>
        <p:spPr>
          <a:xfrm>
            <a:off x="367144" y="200890"/>
            <a:ext cx="9005455" cy="1754326"/>
          </a:xfrm>
          <a:prstGeom prst="rect">
            <a:avLst/>
          </a:prstGeom>
          <a:noFill/>
        </p:spPr>
        <p:txBody>
          <a:bodyPr wrap="square" rtlCol="0">
            <a:spAutoFit/>
          </a:bodyPr>
          <a:lstStyle/>
          <a:p>
            <a:r>
              <a:rPr lang="en-US" b="1" u="sng" dirty="0"/>
              <a:t>Ops Center</a:t>
            </a:r>
          </a:p>
          <a:p>
            <a:endParaRPr lang="en-US" b="1" u="sng" dirty="0"/>
          </a:p>
          <a:p>
            <a:r>
              <a:rPr lang="en-US" dirty="0"/>
              <a:t>Extract </a:t>
            </a:r>
            <a:r>
              <a:rPr lang="en-US" b="1" u="sng" dirty="0"/>
              <a:t>Ops Center </a:t>
            </a:r>
            <a:r>
              <a:rPr lang="en-US" dirty="0"/>
              <a:t>Credentials from main/leader controller node</a:t>
            </a:r>
          </a:p>
          <a:p>
            <a:pPr algn="l"/>
            <a:r>
              <a:rPr lang="en-SG" sz="1800" i="1" dirty="0">
                <a:solidFill>
                  <a:srgbClr val="242424"/>
                </a:solidFill>
                <a:effectLst/>
                <a:latin typeface="Calibri" panose="020F0502020204030204" pitchFamily="34" charset="0"/>
              </a:rPr>
              <a:t>cat /var/log/rtf-init.log | grep -B 1 -A 3 "Ops </a:t>
            </a:r>
            <a:r>
              <a:rPr lang="en-SG" sz="1800" i="1" dirty="0" err="1">
                <a:solidFill>
                  <a:srgbClr val="242424"/>
                </a:solidFill>
                <a:effectLst/>
                <a:latin typeface="Calibri" panose="020F0502020204030204" pitchFamily="34" charset="0"/>
              </a:rPr>
              <a:t>Center</a:t>
            </a:r>
            <a:r>
              <a:rPr lang="en-SG" sz="1800" i="1" dirty="0">
                <a:solidFill>
                  <a:srgbClr val="242424"/>
                </a:solidFill>
                <a:effectLst/>
                <a:latin typeface="Calibri" panose="020F0502020204030204" pitchFamily="34" charset="0"/>
              </a:rPr>
              <a:t>“</a:t>
            </a:r>
          </a:p>
          <a:p>
            <a:pPr algn="l"/>
            <a:endParaRPr lang="en-SG" i="1" dirty="0">
              <a:solidFill>
                <a:srgbClr val="242424"/>
              </a:solidFill>
              <a:latin typeface="Calibri" panose="020F0502020204030204" pitchFamily="34" charset="0"/>
            </a:endParaRPr>
          </a:p>
          <a:p>
            <a:pPr algn="l"/>
            <a:r>
              <a:rPr lang="en-SG" b="0" i="0" dirty="0">
                <a:effectLst/>
                <a:latin typeface="Calibri" panose="020F0502020204030204" pitchFamily="34" charset="0"/>
                <a:hlinkClick r:id="rId2"/>
              </a:rPr>
              <a:t>https://&lt;leadercontrolernode&gt;:32009/web/login</a:t>
            </a:r>
            <a:endParaRPr lang="en-SG" dirty="0"/>
          </a:p>
        </p:txBody>
      </p:sp>
      <p:pic>
        <p:nvPicPr>
          <p:cNvPr id="1026" name="Picture 2">
            <a:extLst>
              <a:ext uri="{FF2B5EF4-FFF2-40B4-BE49-F238E27FC236}">
                <a16:creationId xmlns:a16="http://schemas.microsoft.com/office/drawing/2014/main" id="{E552CAE7-BFC9-522D-3A3B-B0EA9D93FF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79964" y="2617232"/>
            <a:ext cx="3774496" cy="36199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94473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749ECAB0-8854-4D6C-1EE5-E0CBFAA159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8709" y="1398732"/>
            <a:ext cx="11374582" cy="442986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80C0820-7243-0714-4A4E-6C31B1EA74F9}"/>
              </a:ext>
            </a:extLst>
          </p:cNvPr>
          <p:cNvSpPr txBox="1"/>
          <p:nvPr/>
        </p:nvSpPr>
        <p:spPr>
          <a:xfrm>
            <a:off x="270164" y="189407"/>
            <a:ext cx="6096000" cy="369332"/>
          </a:xfrm>
          <a:prstGeom prst="rect">
            <a:avLst/>
          </a:prstGeom>
          <a:noFill/>
        </p:spPr>
        <p:txBody>
          <a:bodyPr wrap="square">
            <a:spAutoFit/>
          </a:bodyPr>
          <a:lstStyle/>
          <a:p>
            <a:r>
              <a:rPr lang="en-US" b="1" u="sng" dirty="0"/>
              <a:t>Ops Center - Admin</a:t>
            </a:r>
            <a:endParaRPr lang="en-SG" dirty="0"/>
          </a:p>
        </p:txBody>
      </p:sp>
    </p:spTree>
    <p:extLst>
      <p:ext uri="{BB962C8B-B14F-4D97-AF65-F5344CB8AC3E}">
        <p14:creationId xmlns:p14="http://schemas.microsoft.com/office/powerpoint/2010/main" val="22175317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80C0820-7243-0714-4A4E-6C31B1EA74F9}"/>
              </a:ext>
            </a:extLst>
          </p:cNvPr>
          <p:cNvSpPr txBox="1"/>
          <p:nvPr/>
        </p:nvSpPr>
        <p:spPr>
          <a:xfrm>
            <a:off x="270164" y="189407"/>
            <a:ext cx="6096000" cy="369332"/>
          </a:xfrm>
          <a:prstGeom prst="rect">
            <a:avLst/>
          </a:prstGeom>
          <a:noFill/>
        </p:spPr>
        <p:txBody>
          <a:bodyPr wrap="square">
            <a:spAutoFit/>
          </a:bodyPr>
          <a:lstStyle/>
          <a:p>
            <a:r>
              <a:rPr lang="en-US" b="1" u="sng" dirty="0"/>
              <a:t>Ops Center - Servers</a:t>
            </a:r>
            <a:endParaRPr lang="en-SG" dirty="0"/>
          </a:p>
        </p:txBody>
      </p:sp>
      <p:graphicFrame>
        <p:nvGraphicFramePr>
          <p:cNvPr id="2" name="Object 1">
            <a:extLst>
              <a:ext uri="{FF2B5EF4-FFF2-40B4-BE49-F238E27FC236}">
                <a16:creationId xmlns:a16="http://schemas.microsoft.com/office/drawing/2014/main" id="{4DA9E043-0BBD-C1DC-1BC8-8119EFE8E2D8}"/>
              </a:ext>
            </a:extLst>
          </p:cNvPr>
          <p:cNvGraphicFramePr>
            <a:graphicFrameLocks noChangeAspect="1"/>
          </p:cNvGraphicFramePr>
          <p:nvPr>
            <p:extLst>
              <p:ext uri="{D42A27DB-BD31-4B8C-83A1-F6EECF244321}">
                <p14:modId xmlns:p14="http://schemas.microsoft.com/office/powerpoint/2010/main" val="2533440944"/>
              </p:ext>
            </p:extLst>
          </p:nvPr>
        </p:nvGraphicFramePr>
        <p:xfrm>
          <a:off x="569480" y="1306368"/>
          <a:ext cx="10079736" cy="3875232"/>
        </p:xfrm>
        <a:graphic>
          <a:graphicData uri="http://schemas.openxmlformats.org/presentationml/2006/ole">
            <mc:AlternateContent xmlns:mc="http://schemas.openxmlformats.org/markup-compatibility/2006">
              <mc:Choice xmlns:v="urn:schemas-microsoft-com:vml" Requires="v">
                <p:oleObj name="Bitmap Image" r:id="rId2" imgW="6966720" imgH="2678040" progId="PBrush">
                  <p:embed/>
                </p:oleObj>
              </mc:Choice>
              <mc:Fallback>
                <p:oleObj name="Bitmap Image" r:id="rId2" imgW="6966720" imgH="2678040" progId="PBrush">
                  <p:embed/>
                  <p:pic>
                    <p:nvPicPr>
                      <p:cNvPr id="0" name=""/>
                      <p:cNvPicPr/>
                      <p:nvPr/>
                    </p:nvPicPr>
                    <p:blipFill>
                      <a:blip r:embed="rId3"/>
                      <a:stretch>
                        <a:fillRect/>
                      </a:stretch>
                    </p:blipFill>
                    <p:spPr>
                      <a:xfrm>
                        <a:off x="569480" y="1306368"/>
                        <a:ext cx="10079736" cy="3875232"/>
                      </a:xfrm>
                      <a:prstGeom prst="rect">
                        <a:avLst/>
                      </a:prstGeom>
                    </p:spPr>
                  </p:pic>
                </p:oleObj>
              </mc:Fallback>
            </mc:AlternateContent>
          </a:graphicData>
        </a:graphic>
      </p:graphicFrame>
    </p:spTree>
    <p:extLst>
      <p:ext uri="{BB962C8B-B14F-4D97-AF65-F5344CB8AC3E}">
        <p14:creationId xmlns:p14="http://schemas.microsoft.com/office/powerpoint/2010/main" val="30383576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80C0820-7243-0714-4A4E-6C31B1EA74F9}"/>
              </a:ext>
            </a:extLst>
          </p:cNvPr>
          <p:cNvSpPr txBox="1"/>
          <p:nvPr/>
        </p:nvSpPr>
        <p:spPr>
          <a:xfrm>
            <a:off x="270164" y="189407"/>
            <a:ext cx="6096000" cy="369332"/>
          </a:xfrm>
          <a:prstGeom prst="rect">
            <a:avLst/>
          </a:prstGeom>
          <a:noFill/>
        </p:spPr>
        <p:txBody>
          <a:bodyPr wrap="square">
            <a:spAutoFit/>
          </a:bodyPr>
          <a:lstStyle/>
          <a:p>
            <a:r>
              <a:rPr lang="en-US" b="1" u="sng" dirty="0"/>
              <a:t>Ops Center - Monitoring</a:t>
            </a:r>
            <a:endParaRPr lang="en-SG" dirty="0"/>
          </a:p>
        </p:txBody>
      </p:sp>
      <p:graphicFrame>
        <p:nvGraphicFramePr>
          <p:cNvPr id="3" name="Object 2">
            <a:extLst>
              <a:ext uri="{FF2B5EF4-FFF2-40B4-BE49-F238E27FC236}">
                <a16:creationId xmlns:a16="http://schemas.microsoft.com/office/drawing/2014/main" id="{CDDF614C-5602-E774-48F3-256C38B258AE}"/>
              </a:ext>
            </a:extLst>
          </p:cNvPr>
          <p:cNvGraphicFramePr>
            <a:graphicFrameLocks noChangeAspect="1"/>
          </p:cNvGraphicFramePr>
          <p:nvPr>
            <p:extLst>
              <p:ext uri="{D42A27DB-BD31-4B8C-83A1-F6EECF244321}">
                <p14:modId xmlns:p14="http://schemas.microsoft.com/office/powerpoint/2010/main" val="3933788952"/>
              </p:ext>
            </p:extLst>
          </p:nvPr>
        </p:nvGraphicFramePr>
        <p:xfrm>
          <a:off x="453593" y="898236"/>
          <a:ext cx="11610779" cy="5557982"/>
        </p:xfrm>
        <a:graphic>
          <a:graphicData uri="http://schemas.openxmlformats.org/presentationml/2006/ole">
            <mc:AlternateContent xmlns:mc="http://schemas.openxmlformats.org/markup-compatibility/2006">
              <mc:Choice xmlns:v="urn:schemas-microsoft-com:vml" Requires="v">
                <p:oleObj name="Bitmap Image" r:id="rId2" imgW="6890760" imgH="3298320" progId="PBrush">
                  <p:embed/>
                </p:oleObj>
              </mc:Choice>
              <mc:Fallback>
                <p:oleObj name="Bitmap Image" r:id="rId2" imgW="6890760" imgH="3298320" progId="PBrush">
                  <p:embed/>
                  <p:pic>
                    <p:nvPicPr>
                      <p:cNvPr id="0" name=""/>
                      <p:cNvPicPr/>
                      <p:nvPr/>
                    </p:nvPicPr>
                    <p:blipFill>
                      <a:blip r:embed="rId3"/>
                      <a:stretch>
                        <a:fillRect/>
                      </a:stretch>
                    </p:blipFill>
                    <p:spPr>
                      <a:xfrm>
                        <a:off x="453593" y="898236"/>
                        <a:ext cx="11610779" cy="5557982"/>
                      </a:xfrm>
                      <a:prstGeom prst="rect">
                        <a:avLst/>
                      </a:prstGeom>
                    </p:spPr>
                  </p:pic>
                </p:oleObj>
              </mc:Fallback>
            </mc:AlternateContent>
          </a:graphicData>
        </a:graphic>
      </p:graphicFrame>
    </p:spTree>
    <p:extLst>
      <p:ext uri="{BB962C8B-B14F-4D97-AF65-F5344CB8AC3E}">
        <p14:creationId xmlns:p14="http://schemas.microsoft.com/office/powerpoint/2010/main" val="23700994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80C0820-7243-0714-4A4E-6C31B1EA74F9}"/>
              </a:ext>
            </a:extLst>
          </p:cNvPr>
          <p:cNvSpPr txBox="1"/>
          <p:nvPr/>
        </p:nvSpPr>
        <p:spPr>
          <a:xfrm>
            <a:off x="270164" y="189407"/>
            <a:ext cx="6096000" cy="369332"/>
          </a:xfrm>
          <a:prstGeom prst="rect">
            <a:avLst/>
          </a:prstGeom>
          <a:noFill/>
        </p:spPr>
        <p:txBody>
          <a:bodyPr wrap="square">
            <a:spAutoFit/>
          </a:bodyPr>
          <a:lstStyle/>
          <a:p>
            <a:r>
              <a:rPr lang="en-US" b="1" u="sng" dirty="0"/>
              <a:t>Ops Center - Kubernetes</a:t>
            </a:r>
            <a:endParaRPr lang="en-SG" dirty="0"/>
          </a:p>
        </p:txBody>
      </p:sp>
      <p:graphicFrame>
        <p:nvGraphicFramePr>
          <p:cNvPr id="2" name="Object 1">
            <a:extLst>
              <a:ext uri="{FF2B5EF4-FFF2-40B4-BE49-F238E27FC236}">
                <a16:creationId xmlns:a16="http://schemas.microsoft.com/office/drawing/2014/main" id="{BA491099-6660-942C-8337-B38CF1EA77AF}"/>
              </a:ext>
            </a:extLst>
          </p:cNvPr>
          <p:cNvGraphicFramePr>
            <a:graphicFrameLocks noChangeAspect="1"/>
          </p:cNvGraphicFramePr>
          <p:nvPr>
            <p:extLst>
              <p:ext uri="{D42A27DB-BD31-4B8C-83A1-F6EECF244321}">
                <p14:modId xmlns:p14="http://schemas.microsoft.com/office/powerpoint/2010/main" val="2717389204"/>
              </p:ext>
            </p:extLst>
          </p:nvPr>
        </p:nvGraphicFramePr>
        <p:xfrm>
          <a:off x="541770" y="1022062"/>
          <a:ext cx="10699384" cy="5157065"/>
        </p:xfrm>
        <a:graphic>
          <a:graphicData uri="http://schemas.openxmlformats.org/presentationml/2006/ole">
            <mc:AlternateContent xmlns:mc="http://schemas.openxmlformats.org/markup-compatibility/2006">
              <mc:Choice xmlns:v="urn:schemas-microsoft-com:vml" Requires="v">
                <p:oleObj name="Bitmap Image" r:id="rId2" imgW="6966720" imgH="3358080" progId="PBrush">
                  <p:embed/>
                </p:oleObj>
              </mc:Choice>
              <mc:Fallback>
                <p:oleObj name="Bitmap Image" r:id="rId2" imgW="6966720" imgH="3358080" progId="PBrush">
                  <p:embed/>
                  <p:pic>
                    <p:nvPicPr>
                      <p:cNvPr id="0" name=""/>
                      <p:cNvPicPr/>
                      <p:nvPr/>
                    </p:nvPicPr>
                    <p:blipFill>
                      <a:blip r:embed="rId3"/>
                      <a:stretch>
                        <a:fillRect/>
                      </a:stretch>
                    </p:blipFill>
                    <p:spPr>
                      <a:xfrm>
                        <a:off x="541770" y="1022062"/>
                        <a:ext cx="10699384" cy="5157065"/>
                      </a:xfrm>
                      <a:prstGeom prst="rect">
                        <a:avLst/>
                      </a:prstGeom>
                    </p:spPr>
                  </p:pic>
                </p:oleObj>
              </mc:Fallback>
            </mc:AlternateContent>
          </a:graphicData>
        </a:graphic>
      </p:graphicFrame>
      <p:sp>
        <p:nvSpPr>
          <p:cNvPr id="4" name="TextBox 3">
            <a:extLst>
              <a:ext uri="{FF2B5EF4-FFF2-40B4-BE49-F238E27FC236}">
                <a16:creationId xmlns:a16="http://schemas.microsoft.com/office/drawing/2014/main" id="{F03D33B0-F895-E28C-2B1A-D6D2744CFA60}"/>
              </a:ext>
            </a:extLst>
          </p:cNvPr>
          <p:cNvSpPr txBox="1"/>
          <p:nvPr/>
        </p:nvSpPr>
        <p:spPr>
          <a:xfrm>
            <a:off x="339436" y="609600"/>
            <a:ext cx="11310794" cy="369332"/>
          </a:xfrm>
          <a:prstGeom prst="rect">
            <a:avLst/>
          </a:prstGeom>
          <a:noFill/>
        </p:spPr>
        <p:txBody>
          <a:bodyPr wrap="square" rtlCol="0">
            <a:spAutoFit/>
          </a:bodyPr>
          <a:lstStyle/>
          <a:p>
            <a:r>
              <a:rPr lang="en-US" dirty="0"/>
              <a:t>Pods tab will show list of applications installed in that environment with worker hostname and Pods IP address</a:t>
            </a:r>
            <a:endParaRPr lang="en-SG" dirty="0"/>
          </a:p>
        </p:txBody>
      </p:sp>
    </p:spTree>
    <p:extLst>
      <p:ext uri="{BB962C8B-B14F-4D97-AF65-F5344CB8AC3E}">
        <p14:creationId xmlns:p14="http://schemas.microsoft.com/office/powerpoint/2010/main" val="30941891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9869185-4DA8-3C5A-B41C-F3CE4F57AD9A}"/>
              </a:ext>
            </a:extLst>
          </p:cNvPr>
          <p:cNvPicPr>
            <a:picLocks noChangeAspect="1"/>
          </p:cNvPicPr>
          <p:nvPr/>
        </p:nvPicPr>
        <p:blipFill>
          <a:blip r:embed="rId2"/>
          <a:stretch>
            <a:fillRect/>
          </a:stretch>
        </p:blipFill>
        <p:spPr>
          <a:xfrm>
            <a:off x="1475508" y="963950"/>
            <a:ext cx="10716491" cy="5717289"/>
          </a:xfrm>
          <a:prstGeom prst="rect">
            <a:avLst/>
          </a:prstGeom>
        </p:spPr>
      </p:pic>
      <p:sp>
        <p:nvSpPr>
          <p:cNvPr id="6" name="TextBox 5">
            <a:extLst>
              <a:ext uri="{FF2B5EF4-FFF2-40B4-BE49-F238E27FC236}">
                <a16:creationId xmlns:a16="http://schemas.microsoft.com/office/drawing/2014/main" id="{D7706607-5BC2-B55E-A8C3-9EAD50C5F104}"/>
              </a:ext>
            </a:extLst>
          </p:cNvPr>
          <p:cNvSpPr txBox="1"/>
          <p:nvPr/>
        </p:nvSpPr>
        <p:spPr>
          <a:xfrm>
            <a:off x="270164" y="189407"/>
            <a:ext cx="6096000" cy="369332"/>
          </a:xfrm>
          <a:prstGeom prst="rect">
            <a:avLst/>
          </a:prstGeom>
          <a:noFill/>
        </p:spPr>
        <p:txBody>
          <a:bodyPr wrap="square">
            <a:spAutoFit/>
          </a:bodyPr>
          <a:lstStyle/>
          <a:p>
            <a:r>
              <a:rPr lang="en-US" b="1" u="sng" dirty="0"/>
              <a:t>Deploy application into Runtime fabric</a:t>
            </a:r>
            <a:endParaRPr lang="en-SG" dirty="0"/>
          </a:p>
        </p:txBody>
      </p:sp>
      <p:sp>
        <p:nvSpPr>
          <p:cNvPr id="7" name="TextBox 6">
            <a:extLst>
              <a:ext uri="{FF2B5EF4-FFF2-40B4-BE49-F238E27FC236}">
                <a16:creationId xmlns:a16="http://schemas.microsoft.com/office/drawing/2014/main" id="{C8D44895-7A14-CE7E-DBDF-D615E890C93B}"/>
              </a:ext>
            </a:extLst>
          </p:cNvPr>
          <p:cNvSpPr txBox="1"/>
          <p:nvPr/>
        </p:nvSpPr>
        <p:spPr>
          <a:xfrm>
            <a:off x="270164" y="176761"/>
            <a:ext cx="6096000" cy="369332"/>
          </a:xfrm>
          <a:prstGeom prst="rect">
            <a:avLst/>
          </a:prstGeom>
          <a:noFill/>
        </p:spPr>
        <p:txBody>
          <a:bodyPr wrap="square">
            <a:spAutoFit/>
          </a:bodyPr>
          <a:lstStyle/>
          <a:p>
            <a:r>
              <a:rPr lang="en-US" b="1" u="sng" dirty="0"/>
              <a:t>Deploy application into Runtime fabric</a:t>
            </a:r>
            <a:endParaRPr lang="en-SG" dirty="0"/>
          </a:p>
        </p:txBody>
      </p:sp>
    </p:spTree>
    <p:extLst>
      <p:ext uri="{BB962C8B-B14F-4D97-AF65-F5344CB8AC3E}">
        <p14:creationId xmlns:p14="http://schemas.microsoft.com/office/powerpoint/2010/main" val="17897330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0FFAA8FB-2F98-D862-56E8-54F7EAACD641}"/>
              </a:ext>
            </a:extLst>
          </p:cNvPr>
          <p:cNvSpPr txBox="1"/>
          <p:nvPr/>
        </p:nvSpPr>
        <p:spPr>
          <a:xfrm>
            <a:off x="270164" y="176761"/>
            <a:ext cx="6096000" cy="369332"/>
          </a:xfrm>
          <a:prstGeom prst="rect">
            <a:avLst/>
          </a:prstGeom>
          <a:noFill/>
        </p:spPr>
        <p:txBody>
          <a:bodyPr wrap="square">
            <a:spAutoFit/>
          </a:bodyPr>
          <a:lstStyle/>
          <a:p>
            <a:r>
              <a:rPr lang="en-US" b="1" u="sng" dirty="0"/>
              <a:t>Deploy application into Runtime fabric</a:t>
            </a:r>
            <a:endParaRPr lang="en-SG" dirty="0"/>
          </a:p>
        </p:txBody>
      </p:sp>
      <p:pic>
        <p:nvPicPr>
          <p:cNvPr id="8" name="Picture 7">
            <a:extLst>
              <a:ext uri="{FF2B5EF4-FFF2-40B4-BE49-F238E27FC236}">
                <a16:creationId xmlns:a16="http://schemas.microsoft.com/office/drawing/2014/main" id="{731022AF-E43D-EA9F-CAD1-C137615DDC4E}"/>
              </a:ext>
            </a:extLst>
          </p:cNvPr>
          <p:cNvPicPr>
            <a:picLocks noChangeAspect="1"/>
          </p:cNvPicPr>
          <p:nvPr/>
        </p:nvPicPr>
        <p:blipFill>
          <a:blip r:embed="rId2"/>
          <a:stretch>
            <a:fillRect/>
          </a:stretch>
        </p:blipFill>
        <p:spPr>
          <a:xfrm>
            <a:off x="755072" y="931567"/>
            <a:ext cx="10280073" cy="5455278"/>
          </a:xfrm>
          <a:prstGeom prst="rect">
            <a:avLst/>
          </a:prstGeom>
        </p:spPr>
      </p:pic>
    </p:spTree>
    <p:extLst>
      <p:ext uri="{BB962C8B-B14F-4D97-AF65-F5344CB8AC3E}">
        <p14:creationId xmlns:p14="http://schemas.microsoft.com/office/powerpoint/2010/main" val="23746399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639</TotalTime>
  <Words>1395</Words>
  <Application>Microsoft Office PowerPoint</Application>
  <PresentationFormat>Widescreen</PresentationFormat>
  <Paragraphs>160</Paragraphs>
  <Slides>22</Slides>
  <Notes>0</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22</vt:i4>
      </vt:variant>
    </vt:vector>
  </HeadingPairs>
  <TitlesOfParts>
    <vt:vector size="27" baseType="lpstr">
      <vt:lpstr>Arial</vt:lpstr>
      <vt:lpstr>Calibri</vt:lpstr>
      <vt:lpstr>Calibri Light</vt:lpstr>
      <vt:lpstr>Office Theme</vt:lpstr>
      <vt:lpstr>Bitmap Image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arul christhuraj alphonse</dc:creator>
  <cp:lastModifiedBy>arul christhuraj alphonse</cp:lastModifiedBy>
  <cp:revision>300</cp:revision>
  <dcterms:created xsi:type="dcterms:W3CDTF">2022-11-05T00:38:32Z</dcterms:created>
  <dcterms:modified xsi:type="dcterms:W3CDTF">2022-11-05T11:19:29Z</dcterms:modified>
</cp:coreProperties>
</file>